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78"/>
  </p:notesMasterIdLst>
  <p:sldIdLst>
    <p:sldId id="256" r:id="rId2"/>
    <p:sldId id="257" r:id="rId3"/>
    <p:sldId id="258" r:id="rId4"/>
    <p:sldId id="286" r:id="rId5"/>
    <p:sldId id="287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506" r:id="rId22"/>
    <p:sldId id="507" r:id="rId23"/>
    <p:sldId id="329" r:id="rId24"/>
    <p:sldId id="331" r:id="rId25"/>
    <p:sldId id="332" r:id="rId26"/>
    <p:sldId id="333" r:id="rId27"/>
    <p:sldId id="334" r:id="rId28"/>
    <p:sldId id="335" r:id="rId29"/>
    <p:sldId id="508" r:id="rId30"/>
    <p:sldId id="509" r:id="rId31"/>
    <p:sldId id="261" r:id="rId32"/>
    <p:sldId id="336" r:id="rId33"/>
    <p:sldId id="308" r:id="rId34"/>
    <p:sldId id="312" r:id="rId35"/>
    <p:sldId id="338" r:id="rId36"/>
    <p:sldId id="337" r:id="rId37"/>
    <p:sldId id="510" r:id="rId38"/>
    <p:sldId id="511" r:id="rId39"/>
    <p:sldId id="325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46" r:id="rId48"/>
    <p:sldId id="347" r:id="rId49"/>
    <p:sldId id="348" r:id="rId50"/>
    <p:sldId id="349" r:id="rId51"/>
    <p:sldId id="512" r:id="rId52"/>
    <p:sldId id="513" r:id="rId53"/>
    <p:sldId id="352" r:id="rId54"/>
    <p:sldId id="368" r:id="rId55"/>
    <p:sldId id="355" r:id="rId56"/>
    <p:sldId id="417" r:id="rId57"/>
    <p:sldId id="418" r:id="rId58"/>
    <p:sldId id="421" r:id="rId59"/>
    <p:sldId id="419" r:id="rId60"/>
    <p:sldId id="420" r:id="rId61"/>
    <p:sldId id="422" r:id="rId62"/>
    <p:sldId id="423" r:id="rId63"/>
    <p:sldId id="424" r:id="rId64"/>
    <p:sldId id="425" r:id="rId65"/>
    <p:sldId id="426" r:id="rId66"/>
    <p:sldId id="427" r:id="rId67"/>
    <p:sldId id="428" r:id="rId68"/>
    <p:sldId id="429" r:id="rId69"/>
    <p:sldId id="430" r:id="rId70"/>
    <p:sldId id="431" r:id="rId71"/>
    <p:sldId id="432" r:id="rId72"/>
    <p:sldId id="433" r:id="rId73"/>
    <p:sldId id="434" r:id="rId74"/>
    <p:sldId id="435" r:id="rId75"/>
    <p:sldId id="436" r:id="rId76"/>
    <p:sldId id="437" r:id="rId77"/>
    <p:sldId id="438" r:id="rId78"/>
    <p:sldId id="439" r:id="rId79"/>
    <p:sldId id="441" r:id="rId80"/>
    <p:sldId id="442" r:id="rId81"/>
    <p:sldId id="354" r:id="rId82"/>
    <p:sldId id="440" r:id="rId83"/>
    <p:sldId id="443" r:id="rId84"/>
    <p:sldId id="444" r:id="rId85"/>
    <p:sldId id="445" r:id="rId86"/>
    <p:sldId id="446" r:id="rId87"/>
    <p:sldId id="447" r:id="rId88"/>
    <p:sldId id="448" r:id="rId89"/>
    <p:sldId id="449" r:id="rId90"/>
    <p:sldId id="450" r:id="rId91"/>
    <p:sldId id="451" r:id="rId92"/>
    <p:sldId id="452" r:id="rId93"/>
    <p:sldId id="453" r:id="rId94"/>
    <p:sldId id="454" r:id="rId95"/>
    <p:sldId id="520" r:id="rId96"/>
    <p:sldId id="521" r:id="rId97"/>
    <p:sldId id="371" r:id="rId98"/>
    <p:sldId id="478" r:id="rId99"/>
    <p:sldId id="479" r:id="rId100"/>
    <p:sldId id="487" r:id="rId101"/>
    <p:sldId id="480" r:id="rId102"/>
    <p:sldId id="481" r:id="rId103"/>
    <p:sldId id="482" r:id="rId104"/>
    <p:sldId id="483" r:id="rId105"/>
    <p:sldId id="484" r:id="rId106"/>
    <p:sldId id="485" r:id="rId107"/>
    <p:sldId id="488" r:id="rId108"/>
    <p:sldId id="490" r:id="rId109"/>
    <p:sldId id="489" r:id="rId110"/>
    <p:sldId id="486" r:id="rId111"/>
    <p:sldId id="491" r:id="rId112"/>
    <p:sldId id="492" r:id="rId113"/>
    <p:sldId id="494" r:id="rId114"/>
    <p:sldId id="495" r:id="rId115"/>
    <p:sldId id="496" r:id="rId116"/>
    <p:sldId id="493" r:id="rId117"/>
    <p:sldId id="497" r:id="rId118"/>
    <p:sldId id="499" r:id="rId119"/>
    <p:sldId id="500" r:id="rId120"/>
    <p:sldId id="498" r:id="rId121"/>
    <p:sldId id="501" r:id="rId122"/>
    <p:sldId id="502" r:id="rId123"/>
    <p:sldId id="504" r:id="rId124"/>
    <p:sldId id="503" r:id="rId125"/>
    <p:sldId id="505" r:id="rId126"/>
    <p:sldId id="465" r:id="rId127"/>
    <p:sldId id="466" r:id="rId128"/>
    <p:sldId id="467" r:id="rId129"/>
    <p:sldId id="468" r:id="rId130"/>
    <p:sldId id="469" r:id="rId131"/>
    <p:sldId id="470" r:id="rId132"/>
    <p:sldId id="471" r:id="rId133"/>
    <p:sldId id="472" r:id="rId134"/>
    <p:sldId id="474" r:id="rId135"/>
    <p:sldId id="473" r:id="rId136"/>
    <p:sldId id="475" r:id="rId137"/>
    <p:sldId id="476" r:id="rId138"/>
    <p:sldId id="477" r:id="rId139"/>
    <p:sldId id="409" r:id="rId140"/>
    <p:sldId id="455" r:id="rId141"/>
    <p:sldId id="456" r:id="rId142"/>
    <p:sldId id="461" r:id="rId143"/>
    <p:sldId id="457" r:id="rId144"/>
    <p:sldId id="462" r:id="rId145"/>
    <p:sldId id="458" r:id="rId146"/>
    <p:sldId id="459" r:id="rId147"/>
    <p:sldId id="463" r:id="rId148"/>
    <p:sldId id="464" r:id="rId149"/>
    <p:sldId id="460" r:id="rId150"/>
    <p:sldId id="381" r:id="rId151"/>
    <p:sldId id="382" r:id="rId152"/>
    <p:sldId id="518" r:id="rId153"/>
    <p:sldId id="519" r:id="rId154"/>
    <p:sldId id="394" r:id="rId155"/>
    <p:sldId id="388" r:id="rId156"/>
    <p:sldId id="389" r:id="rId157"/>
    <p:sldId id="390" r:id="rId158"/>
    <p:sldId id="391" r:id="rId159"/>
    <p:sldId id="392" r:id="rId160"/>
    <p:sldId id="393" r:id="rId161"/>
    <p:sldId id="395" r:id="rId162"/>
    <p:sldId id="396" r:id="rId163"/>
    <p:sldId id="397" r:id="rId164"/>
    <p:sldId id="516" r:id="rId165"/>
    <p:sldId id="517" r:id="rId166"/>
    <p:sldId id="400" r:id="rId167"/>
    <p:sldId id="406" r:id="rId168"/>
    <p:sldId id="407" r:id="rId169"/>
    <p:sldId id="401" r:id="rId170"/>
    <p:sldId id="402" r:id="rId171"/>
    <p:sldId id="403" r:id="rId172"/>
    <p:sldId id="404" r:id="rId173"/>
    <p:sldId id="405" r:id="rId174"/>
    <p:sldId id="514" r:id="rId175"/>
    <p:sldId id="515" r:id="rId176"/>
    <p:sldId id="269" r:id="rId17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79"/>
      <p:bold r:id="rId180"/>
      <p:italic r:id="rId181"/>
      <p:boldItalic r:id="rId182"/>
    </p:embeddedFont>
    <p:embeddedFont>
      <p:font typeface="Proxima Nova" panose="020B0604020202020204" charset="0"/>
      <p:regular r:id="rId183"/>
      <p:bold r:id="rId184"/>
      <p:italic r:id="rId185"/>
      <p:boldItalic r:id="rId186"/>
    </p:embeddedFont>
    <p:embeddedFont>
      <p:font typeface="Roboto" panose="02000000000000000000" pitchFamily="2" charset="0"/>
      <p:regular r:id="rId187"/>
      <p:bold r:id="rId188"/>
      <p:italic r:id="rId189"/>
      <p:boldItalic r:id="rId19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font" Target="fonts/font3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viewProps" Target="view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font" Target="fonts/font4.fntdata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theme" Target="theme/theme1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font" Target="fonts/font10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font" Target="fonts/font6.fntdata"/><Relationship Id="rId189" Type="http://schemas.openxmlformats.org/officeDocument/2006/relationships/font" Target="fonts/font11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font" Target="fonts/font1.fntdata"/><Relationship Id="rId190" Type="http://schemas.openxmlformats.org/officeDocument/2006/relationships/font" Target="fonts/font12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font" Target="fonts/font2.fntdata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font" Target="fonts/font8.fntdata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20" name="Google Shape;6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B790F29-C006-7E5E-E554-60A83D38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123ABA21-EB7F-1A57-D846-8DC59CA11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196B5474-D432-DE29-CA15-D6B5B74F8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38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FB459FA4-A936-AAD6-9611-FA1F70D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2CCB2263-3754-B48A-E62C-CA897D090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B02595CD-DA98-3524-EF4A-B302BC1DD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63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077F9C2A-4CDF-0553-564F-E5F3B635F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AD6E7D96-983D-C6F7-C7CF-A15ECA376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7E584CD4-9A1E-FC32-758C-916EEE2A9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638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>
          <a:extLst>
            <a:ext uri="{FF2B5EF4-FFF2-40B4-BE49-F238E27FC236}">
              <a16:creationId xmlns:a16="http://schemas.microsoft.com/office/drawing/2014/main" id="{535F3257-E0C8-C0E9-88D1-7288E002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>
            <a:extLst>
              <a:ext uri="{FF2B5EF4-FFF2-40B4-BE49-F238E27FC236}">
                <a16:creationId xmlns:a16="http://schemas.microsoft.com/office/drawing/2014/main" id="{CA522F57-B979-7D41-C46E-A0D570494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Note to SMEs: Start the session with a recall of the concepts taught in core content would help build a connection between the two</a:t>
            </a:r>
            <a:endParaRPr sz="14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50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rPr>
              <a:t>For example, if teaching a session on e-skills, asking the learners what they understood from the first module or the core concepts that were taught in module</a:t>
            </a:r>
            <a:endParaRPr sz="1600"/>
          </a:p>
        </p:txBody>
      </p:sp>
      <p:sp>
        <p:nvSpPr>
          <p:cNvPr id="630" name="Google Shape;630;p3:notes">
            <a:extLst>
              <a:ext uri="{FF2B5EF4-FFF2-40B4-BE49-F238E27FC236}">
                <a16:creationId xmlns:a16="http://schemas.microsoft.com/office/drawing/2014/main" id="{8BCBFDA7-87A6-688F-8848-67B0B79AE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951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D5AFA40-695D-7B0D-AAB0-EAB3A5FD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5575931-E09F-CDC2-DCDF-AA16A1AFA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953FFBF-F1CD-D8B4-1ED4-D15E7ACBB6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90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9F61800-1F8E-E127-BD45-6CE38C3C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1F5CF9A1-96C4-CE96-D551-6C84355970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B89C25E-B222-C3A9-F8D2-C76B6F7DA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286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7E89FE3-5539-0808-2487-512222507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2AB0885-9696-FCC1-0605-FFB2A19EE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9E21CAF-1A08-E173-6BE4-5A2E3CFEAD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71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DDAB5D0B-DA81-BF2F-A145-04EC8B09F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C25EC91-1D93-ECE5-A917-9C79603D9F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2E30389E-A7A0-A88F-8FE5-F3D3D347C0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32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3D112B1-F23E-4CB4-7E44-7BDAF8C62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CA12EF6-315E-A16B-DD25-F4AFC0C7F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01B1743-5E61-0046-393F-00F24F1D95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183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D58B879-0D3A-F241-2CBB-39E8C1C8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AD01C03-59B8-DD1C-39EA-35FD1A97A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6802576-E1CE-4711-BD92-6738ECA70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9955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74E8DA2-5D84-22DC-2E41-8F950CBB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260399C-8F91-4BD6-0600-309DD34EDF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DE008E25-E80E-13E2-B54B-C1AC6AC5BB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594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6161A042-21BB-3730-0C57-88C7E64A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3A89D4FE-5BE6-2326-0683-35FE5A435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2B9199C-E13E-7E50-D187-6BF49FB71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486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A1C6D58-7A47-045D-5FC2-0BD0EB812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01D8267F-7454-6A52-2E25-C0CA0D82D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A930E964-4EB0-335F-171D-84F0E020A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98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2132A734-203E-43E4-30D0-55D78DB3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EDA0388-AAD0-AA81-0710-B9F372E505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322DDA3-D85C-DDD5-2E36-08B7EB7D9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95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06C838FA-67BF-A580-AC59-2C65D674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27C9A3A-D277-10ED-7A66-742AC80254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8D75D90-0919-A25F-E72D-79EC3E00D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96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A5AF6D6-FE8C-E72C-B2AE-1B6D015C7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8EF1974-C49B-8909-F6FE-17E83E411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98E05204-C69B-89C1-2E85-FCE6AF5565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4069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0FFBEAA-9C72-8C59-BE77-18A48EEB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45BE1A3-44E6-A16E-DFE6-3E5612CF4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A625A7-315A-E7C2-DC0C-E47EBC0A9D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69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A9C4DAD-F129-969E-E18A-0B2F7EEF7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4F70172-74D9-CA0A-EEB3-971FA20F8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A0A650E-92C2-EEF4-DC96-6F2B23F48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4991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5EC744AE-CF62-E44B-2A79-683087C1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52586B5-2C00-FABD-2E90-CB0713B55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24809D3-95BE-E362-3605-6782D87295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69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0ED87B5-9292-BC29-4B5D-583E3B5E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87EA3359-7D73-3BD8-C330-DEF8E79921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7D1F1F2-9BD7-046D-AD89-733DEF8AC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885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3A221C93-3859-4054-2A32-82EDA4F9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18BE6863-B709-AA14-F30C-A38C8DD244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8D6E51C0-D706-3907-2C5D-F0C2ECF2B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677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1911531-9CF9-E134-0794-43F64D41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9797F1F6-4F74-6B7F-C1AD-F9317F6BE1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6A089485-24F3-4A61-B1CA-CDA55B788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7567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C49F403-8031-5C58-107D-BA7C9AE2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D35B8442-0DEE-128C-CC01-A7A9C1CC7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8659B14-CF51-5413-60CE-D7E8DAAD6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300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77FCC954-503A-E1C4-BBA3-AA1E9BBF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4110102-7B60-DF83-A111-57B704E52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07205706-C882-F887-77EC-382C27709A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945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BD459951-9937-19A2-F674-8313640BC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4A5D6712-6882-31DD-A1C0-E06F21992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D2A5B44E-095F-4512-9E1D-CB8EDE846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0785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F2681326-C6FE-8458-9DB9-76BE5AD1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2D5A1754-9743-2F84-C209-EE964BB6E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3E7652D-7FB6-1D05-F574-F9798D3C7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3550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CAB7828B-770B-2AAD-9FEB-5B81DE35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C8305B73-2454-3B99-BFFC-68C6D86CDC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E605903-D8CC-CAC9-6448-857D19F3F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404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FA86F8A-B2D4-907D-6C75-25BEA5503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3839A40A-6C1C-A2B7-3F5C-BA75C1DF3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281DD83E-237E-1D29-6279-4B874C5BBF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012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>
          <a:extLst>
            <a:ext uri="{FF2B5EF4-FFF2-40B4-BE49-F238E27FC236}">
              <a16:creationId xmlns:a16="http://schemas.microsoft.com/office/drawing/2014/main" id="{4BD83B78-4328-E40A-5EF9-D09FF12DC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:notes">
            <a:extLst>
              <a:ext uri="{FF2B5EF4-FFF2-40B4-BE49-F238E27FC236}">
                <a16:creationId xmlns:a16="http://schemas.microsoft.com/office/drawing/2014/main" id="{A2112DA6-C8B3-EAB9-6E71-9AD20C237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:notes">
            <a:extLst>
              <a:ext uri="{FF2B5EF4-FFF2-40B4-BE49-F238E27FC236}">
                <a16:creationId xmlns:a16="http://schemas.microsoft.com/office/drawing/2014/main" id="{4DC7868A-F5B1-B13B-6AC7-93BA7C5C0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0110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454B407-DB26-0CF2-655A-9F2DD007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42682E87-F939-96CC-A768-E08383D36F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D744E51-9153-1C3A-6FB8-E648CE4C6C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120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3A00A1A-8DD4-C4C7-FEFD-F572958F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CF20A5F-6776-FEF8-471C-FA599E213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747B889-31F1-EE40-D893-2D51A80D9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6310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30B3B4B-DAC3-E1A0-39F2-C210D3DF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6D95B2E-B526-5C68-6ECB-AADC4E440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43AFB63-8590-C253-8945-54DF51FF7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3778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4A0562F-454B-D67C-C918-448DE711E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F19D8FC-AA52-EAE2-3611-99FD878EB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251C35B-CD0E-945F-50D0-C4DD7DDF7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87766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B10BE7CF-CAA0-715C-E5BA-CAF67DBF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3B08C25-D6F1-80F4-B570-717C1F483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335E9F4-F50F-FB0B-377A-70B0B4A921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6235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D0424BE-153F-31AB-B11C-19022B2F8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B2A6E54-EB58-2FDF-A5A3-26DD81048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9320B75-7981-9F1C-516D-1AB4915C6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0992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266B5D0-3F83-6631-1E20-F68F156C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468DCCE-CED2-2E5E-6E26-CB91B8893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7C1875F-9E59-7853-F68D-02F1B332FA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247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A315F29-67BF-BEEE-85A9-85A788E6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DAD3D9D2-739A-87C3-D506-3D5E7DCA3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91BED8A-1650-7520-469E-79DDADBE6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40857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E9B38F52-62FC-105B-5D6A-EC79BA20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6B4C0A9E-AFBD-D01B-C97C-DFF66A0EA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7DC9DF7E-50C6-F672-4317-CA1901D72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1710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5FE2DCA7-97AD-DED5-A80E-61AE5D139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38F5EFD-B7BB-163B-FBF6-B1F902A72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B241F22-A54D-6D54-B273-3E233F7C9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907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1B2BEDA-9665-0B6E-CEB9-139EB66B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E7C67489-1707-6BF4-1CC3-22A5A0327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B0A6096-CD33-693C-228E-1ECEEBD0DC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4807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61506F3-7D01-28FA-5AA5-B15AEA2C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7318B558-7AE8-2C0B-984F-CB362C9142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63458A5-AE97-7A42-62AA-BFBD47DD0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8076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92F79B9-3F8D-9D38-0630-D74A5B6C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FC382910-5825-DD96-C736-1EC0F1DAA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442D34C-1011-7813-DC57-7043AF33FE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33292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DB2DC60-2755-F95B-153C-0056FAE2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0C8E786E-14D0-9CB7-1D76-C3E4C6D34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6E78CBE4-5630-156E-DD4F-791A37715E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197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0E2CC06-DB18-495A-9A98-D0835E97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8A7C8D3A-A36B-F93B-558D-E12FEEA27D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F905207-8D65-8A09-51DA-7475E9396B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0233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BA441C3-7490-37E1-336E-B45330E7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23A8912-8B84-9525-1869-892911269B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2841282-8405-1863-63D8-04A0FD33A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32580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1F716FF3-DC16-01EC-3D80-56C611333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8415F97-29B2-363F-00C9-04E368949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44B7A097-4A6E-6CEC-2889-80D6EC2CE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6625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9066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16115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942108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371105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5654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3018AF6E-1C40-F700-B01F-10889597D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A25A954-9EB4-39FB-89E5-F88E5C5E14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5611A8F6-710B-87B3-DA8C-57B3106B22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426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ED5D1EE-DCCB-1916-A7C0-265CD86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37201FF-4004-A0C5-0BC4-9D87D4A61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8843371-EF7E-A2DE-49BD-8011E0F317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86392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CBE15A6-3E54-611B-7794-A3011B08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3F1361B-2FDC-4F4D-673D-90B919ADD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EB80CB9D-4ACC-E39C-BBDA-40F329D62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9425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E5F8892-B963-3B4D-AB8B-C76CF4C0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C02A2481-2E4E-1041-6464-18B6AEF24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A4F7524-857F-8495-4752-3076B64DC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5291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2E42DDBD-BE9A-1EBE-6C1D-982DC530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14CCBD9C-1C41-D0C2-B08E-722825CC38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E0038878-5B2F-CFB3-3435-0A1042E40B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6165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E3FF4A1D-ECBF-F1C2-1AE9-BA686406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9B575732-7991-A71D-5E4B-DB687CF65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384B5C82-C414-A9CD-E90F-B6018FBC0F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42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8A2436C-2E2A-4289-74B3-5D814A7FF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A90B7F5B-E65C-BFEE-A09F-EFD786916A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79E40C63-8B7F-EF43-401F-B7B4959E1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80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5BCDB8C-B185-AFEA-E82B-DAE1496C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33ABBDB3-243B-5E45-4892-82407E366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4C26E8F-AD6B-40B5-E9C4-2D83C8669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82312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8DADD44-E2FD-46ED-AE0F-DEE15290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83B2DFAE-A854-579B-659A-B4C84DFC9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5AAA0FBD-8631-9BFC-639E-AD1625DF3B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6518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C2C77AA7-2400-953D-E133-509D4CA8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B8079B90-D9B0-A805-B9A2-DD83BB1566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C873707C-5EA2-AE6F-86DB-D72F05F1B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464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6A178D-1D54-DF20-F493-616802A2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430BC8EB-184B-E031-7151-073D4B4FC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9B1CE2EE-8A41-29F5-FA52-1512A08CC5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53777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BF7C833-B473-976C-17B5-E16CD3C0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71AE8F94-0AAD-7285-2B06-3C2191969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BC9EFBCF-2636-5C70-B43C-A2026073D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730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A116F5D-CFDD-6A58-24F9-2C7E9B910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4:notes">
            <a:extLst>
              <a:ext uri="{FF2B5EF4-FFF2-40B4-BE49-F238E27FC236}">
                <a16:creationId xmlns:a16="http://schemas.microsoft.com/office/drawing/2014/main" id="{D7EB0050-6E80-58FB-102D-FABD3E141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4:notes">
            <a:extLst>
              <a:ext uri="{FF2B5EF4-FFF2-40B4-BE49-F238E27FC236}">
                <a16:creationId xmlns:a16="http://schemas.microsoft.com/office/drawing/2014/main" id="{82AF163B-2D2B-C1A2-84F1-BA84AB958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23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FA92CA16-55B9-472B-F210-32D167DD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B33A9435-5155-DE5B-2C1C-E8A5D0BEC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631C81F-4730-F75B-69AB-9E6B30DD5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73667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CC03842B-BA92-46A0-58E9-0C44B934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F8BEF47-F6D2-DB6F-4A7C-4783B0516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F90DE9FA-36F2-D814-7239-441C62C5A2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83225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76A41FF-1451-F3E5-D958-4DFB6BF1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55CDFC28-44BA-4D39-FAED-3E14DF02A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8E3E2198-0912-616E-ED2B-4205256A9B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00840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4EC59645-6622-8A88-8D9D-01EF4599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8CCB9E02-FBFD-29FB-93AD-AB2A78A8D5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16AF3C04-F9D0-29B9-15D9-D54BE8159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4770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772F6FB7-E3BF-40CE-B6D9-F2FA13CF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2B8B6837-3C2C-D682-3F20-060665A4D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6E3D0398-B5DB-539D-F247-0AFE09BB7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5930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B76A300-A02C-27E3-6EC9-730C8C448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CA58825F-AD53-7247-4124-99F3D74AB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51F58A0-EB15-4254-56DB-7DD3E3D5B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1602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ADC4E091-6145-CCAB-7B64-0B0AA9B2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FF3B0F61-5164-46D0-3DCC-355D3CB33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3C739771-5213-4746-50B9-4FF042FDDD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6750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>
          <a:extLst>
            <a:ext uri="{FF2B5EF4-FFF2-40B4-BE49-F238E27FC236}">
              <a16:creationId xmlns:a16="http://schemas.microsoft.com/office/drawing/2014/main" id="{88DE4330-5CC0-5EC3-033C-C90D67D95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8:notes">
            <a:extLst>
              <a:ext uri="{FF2B5EF4-FFF2-40B4-BE49-F238E27FC236}">
                <a16:creationId xmlns:a16="http://schemas.microsoft.com/office/drawing/2014/main" id="{9A8059F9-8BEE-097B-5246-33609A33D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8:notes">
            <a:extLst>
              <a:ext uri="{FF2B5EF4-FFF2-40B4-BE49-F238E27FC236}">
                <a16:creationId xmlns:a16="http://schemas.microsoft.com/office/drawing/2014/main" id="{069F2655-1BD3-D9D4-5EFE-B8687C2D61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07002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663921" y="465388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2D4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E72D4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0" y="0"/>
            <a:ext cx="9144000" cy="465388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3922" y="571887"/>
            <a:ext cx="2057400" cy="54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1756">
          <p15:clr>
            <a:srgbClr val="FBAE40"/>
          </p15:clr>
        </p15:guide>
        <p15:guide id="5" pos="33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2_Divi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Proxima Nov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Proxima Nova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431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5990568" cy="56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2 Line Title and Content">
  <p:cSld name="1_2 Line 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1"/>
          </p:nvPr>
        </p:nvSpPr>
        <p:spPr>
          <a:xfrm>
            <a:off x="3303588" y="1816100"/>
            <a:ext cx="5265737" cy="261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5" name="Google Shape;5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BAE40"/>
          </p15:clr>
        </p15:guide>
        <p15:guide id="2" orient="horz" pos="378">
          <p15:clr>
            <a:srgbClr val="FBAE40"/>
          </p15:clr>
        </p15:guide>
        <p15:guide id="3" orient="horz" pos="923">
          <p15:clr>
            <a:srgbClr val="FBAE40"/>
          </p15:clr>
        </p15:guide>
        <p15:guide id="4" orient="horz" pos="2794">
          <p15:clr>
            <a:srgbClr val="FBAE40"/>
          </p15:clr>
        </p15:guide>
        <p15:guide id="5" pos="2081">
          <p15:clr>
            <a:srgbClr val="FBAE40"/>
          </p15:clr>
        </p15:guide>
        <p15:guide id="6" orient="horz" pos="11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icture and caption">
  <p:cSld name="Title, picture and captio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>
            <a:spLocks noGrp="1"/>
          </p:cNvSpPr>
          <p:nvPr>
            <p:ph type="pic" idx="2"/>
          </p:nvPr>
        </p:nvSpPr>
        <p:spPr>
          <a:xfrm>
            <a:off x="4136817" y="1681163"/>
            <a:ext cx="4535267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648274" y="1681163"/>
            <a:ext cx="3140075" cy="2825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053">
          <p15:clr>
            <a:srgbClr val="FBAE40"/>
          </p15:clr>
        </p15:guide>
        <p15:guide id="3" orient="horz" pos="2845">
          <p15:clr>
            <a:srgbClr val="FBAE40"/>
          </p15:clr>
        </p15:guide>
        <p15:guide id="4" pos="3254">
          <p15:clr>
            <a:srgbClr val="FBAE40"/>
          </p15:clr>
        </p15:guide>
        <p15:guide id="5" pos="339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vider">
  <p:cSld name="1_Divi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8" name="Google Shape;338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  <p:pic>
        <p:nvPicPr>
          <p:cNvPr id="342" name="Google Shape;34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8650" y="546100"/>
            <a:ext cx="3259769" cy="403398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1"/>
          <p:cNvSpPr txBox="1"/>
          <p:nvPr/>
        </p:nvSpPr>
        <p:spPr>
          <a:xfrm>
            <a:off x="971550" y="1260629"/>
            <a:ext cx="2552886" cy="158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IN" sz="14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Edit Master text styles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90">
          <p15:clr>
            <a:srgbClr val="FBAE40"/>
          </p15:clr>
        </p15:guide>
        <p15:guide id="2" pos="612">
          <p15:clr>
            <a:srgbClr val="FBAE40"/>
          </p15:clr>
        </p15:guide>
        <p15:guide id="3" pos="2222">
          <p15:clr>
            <a:srgbClr val="FBAE40"/>
          </p15:clr>
        </p15:guide>
        <p15:guide id="4" orient="horz" pos="16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3 picture with caption">
  <p:cSld name="Title and 3 picture with caption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 txBox="1">
            <a:spLocks noGrp="1"/>
          </p:cNvSpPr>
          <p:nvPr>
            <p:ph type="title"/>
          </p:nvPr>
        </p:nvSpPr>
        <p:spPr>
          <a:xfrm>
            <a:off x="629841" y="600075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22"/>
          <p:cNvSpPr>
            <a:spLocks noGrp="1"/>
          </p:cNvSpPr>
          <p:nvPr>
            <p:ph type="pic" idx="2"/>
          </p:nvPr>
        </p:nvSpPr>
        <p:spPr>
          <a:xfrm>
            <a:off x="1445363" y="1382268"/>
            <a:ext cx="1668121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9" name="Google Shape;349;p22"/>
          <p:cNvSpPr>
            <a:spLocks noGrp="1"/>
          </p:cNvSpPr>
          <p:nvPr>
            <p:ph type="pic" idx="3"/>
          </p:nvPr>
        </p:nvSpPr>
        <p:spPr>
          <a:xfrm>
            <a:off x="3744984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0" name="Google Shape;350;p22"/>
          <p:cNvSpPr>
            <a:spLocks noGrp="1"/>
          </p:cNvSpPr>
          <p:nvPr>
            <p:ph type="pic" idx="4"/>
          </p:nvPr>
        </p:nvSpPr>
        <p:spPr>
          <a:xfrm>
            <a:off x="6055443" y="1382268"/>
            <a:ext cx="1654032" cy="1946672"/>
          </a:xfrm>
          <a:prstGeom prst="rect">
            <a:avLst/>
          </a:prstGeom>
          <a:noFill/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1" name="Google Shape;351;p22"/>
          <p:cNvSpPr txBox="1">
            <a:spLocks noGrp="1"/>
          </p:cNvSpPr>
          <p:nvPr>
            <p:ph type="body" idx="1"/>
          </p:nvPr>
        </p:nvSpPr>
        <p:spPr>
          <a:xfrm>
            <a:off x="1439466" y="3519224"/>
            <a:ext cx="1674019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2" name="Google Shape;352;p22"/>
          <p:cNvSpPr txBox="1">
            <a:spLocks noGrp="1"/>
          </p:cNvSpPr>
          <p:nvPr>
            <p:ph type="body" idx="5"/>
          </p:nvPr>
        </p:nvSpPr>
        <p:spPr>
          <a:xfrm>
            <a:off x="3744985" y="3519224"/>
            <a:ext cx="1654032" cy="276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body" idx="6"/>
          </p:nvPr>
        </p:nvSpPr>
        <p:spPr>
          <a:xfrm>
            <a:off x="6050503" y="3519223"/>
            <a:ext cx="1654032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15"/>
              <a:buFont typeface="Arial"/>
              <a:buNone/>
              <a:defRPr sz="1215" b="1" i="0" u="none" strike="noStrike" cap="non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4" name="Google Shape;354;p22"/>
          <p:cNvSpPr txBox="1">
            <a:spLocks noGrp="1"/>
          </p:cNvSpPr>
          <p:nvPr>
            <p:ph type="body" idx="7"/>
          </p:nvPr>
        </p:nvSpPr>
        <p:spPr>
          <a:xfrm>
            <a:off x="1439863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5" name="Google Shape;355;p22"/>
          <p:cNvSpPr txBox="1">
            <a:spLocks noGrp="1"/>
          </p:cNvSpPr>
          <p:nvPr>
            <p:ph type="body" idx="8"/>
          </p:nvPr>
        </p:nvSpPr>
        <p:spPr>
          <a:xfrm>
            <a:off x="3735388" y="3862520"/>
            <a:ext cx="1674019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6" name="Google Shape;356;p22"/>
          <p:cNvSpPr txBox="1">
            <a:spLocks noGrp="1"/>
          </p:cNvSpPr>
          <p:nvPr>
            <p:ph type="body" idx="9"/>
          </p:nvPr>
        </p:nvSpPr>
        <p:spPr>
          <a:xfrm>
            <a:off x="6050502" y="3862520"/>
            <a:ext cx="1658973" cy="67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40"/>
              <a:buFont typeface="Arial"/>
              <a:buNone/>
              <a:defRPr sz="939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7" name="Google Shape;357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59" name="Google Shape;3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10">
          <p15:clr>
            <a:srgbClr val="FBAE40"/>
          </p15:clr>
        </p15:guide>
        <p15:guide id="2" orient="horz" pos="2391">
          <p15:clr>
            <a:srgbClr val="FBAE40"/>
          </p15:clr>
        </p15:guide>
        <p15:guide id="3" orient="horz" pos="2096">
          <p15:clr>
            <a:srgbClr val="FBAE40"/>
          </p15:clr>
        </p15:guide>
        <p15:guide id="4" orient="horz" pos="378">
          <p15:clr>
            <a:srgbClr val="FBAE40"/>
          </p15:clr>
        </p15:guide>
        <p15:guide id="5" pos="907">
          <p15:clr>
            <a:srgbClr val="FBAE40"/>
          </p15:clr>
        </p15:guide>
        <p15:guide id="6" orient="horz" pos="872">
          <p15:clr>
            <a:srgbClr val="FBAE40"/>
          </p15:clr>
        </p15:guide>
        <p15:guide id="7" pos="1961">
          <p15:clr>
            <a:srgbClr val="FBAE40"/>
          </p15:clr>
        </p15:guide>
        <p15:guide id="8" pos="2353">
          <p15:clr>
            <a:srgbClr val="FBAE40"/>
          </p15:clr>
        </p15:guide>
        <p15:guide id="9" pos="3407">
          <p15:clr>
            <a:srgbClr val="FBAE40"/>
          </p15:clr>
        </p15:guide>
        <p15:guide id="10" pos="3810">
          <p15:clr>
            <a:srgbClr val="FBAE40"/>
          </p15:clr>
        </p15:guide>
        <p15:guide id="11" pos="485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2 pictures">
  <p:cSld name="Title and 2 pictures"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 txBox="1">
            <a:spLocks noGrp="1"/>
          </p:cNvSpPr>
          <p:nvPr>
            <p:ph type="title"/>
          </p:nvPr>
        </p:nvSpPr>
        <p:spPr>
          <a:xfrm>
            <a:off x="642473" y="546498"/>
            <a:ext cx="5902706" cy="567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4599929" y="1870236"/>
            <a:ext cx="3921771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>
            <a:spLocks noGrp="1"/>
          </p:cNvSpPr>
          <p:nvPr>
            <p:ph type="pic" idx="2"/>
          </p:nvPr>
        </p:nvSpPr>
        <p:spPr>
          <a:xfrm>
            <a:off x="4599929" y="1868092"/>
            <a:ext cx="3921771" cy="232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5" name="Google Shape;365;p23"/>
          <p:cNvSpPr>
            <a:spLocks noGrp="1"/>
          </p:cNvSpPr>
          <p:nvPr>
            <p:ph type="pic" idx="3"/>
          </p:nvPr>
        </p:nvSpPr>
        <p:spPr>
          <a:xfrm>
            <a:off x="621848" y="1868091"/>
            <a:ext cx="25920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6" name="Google Shape;366;p23"/>
          <p:cNvSpPr txBox="1">
            <a:spLocks noGrp="1"/>
          </p:cNvSpPr>
          <p:nvPr>
            <p:ph type="body" idx="1"/>
          </p:nvPr>
        </p:nvSpPr>
        <p:spPr>
          <a:xfrm>
            <a:off x="629841" y="3145632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15"/>
              <a:buFont typeface="Arial"/>
              <a:buNone/>
              <a:defRPr sz="1215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7" name="Google Shape;367;p23"/>
          <p:cNvSpPr txBox="1">
            <a:spLocks noGrp="1"/>
          </p:cNvSpPr>
          <p:nvPr>
            <p:ph type="body" idx="4"/>
          </p:nvPr>
        </p:nvSpPr>
        <p:spPr>
          <a:xfrm>
            <a:off x="635000" y="3515616"/>
            <a:ext cx="3343275" cy="28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10"/>
              <a:buFont typeface="Arial"/>
              <a:buNone/>
              <a:defRPr sz="131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8" name="Google Shape;368;p23"/>
          <p:cNvSpPr txBox="1">
            <a:spLocks noGrp="1"/>
          </p:cNvSpPr>
          <p:nvPr>
            <p:ph type="dt" idx="10"/>
          </p:nvPr>
        </p:nvSpPr>
        <p:spPr>
          <a:xfrm>
            <a:off x="64247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9" name="Google Shape;369;p23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70" name="Google Shape;37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3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4599929" y="1870236"/>
            <a:ext cx="3969000" cy="2322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1178">
          <p15:clr>
            <a:srgbClr val="FBAE40"/>
          </p15:clr>
        </p15:guide>
        <p15:guide id="3" orient="horz" pos="1671">
          <p15:clr>
            <a:srgbClr val="FBAE40"/>
          </p15:clr>
        </p15:guide>
        <p15:guide id="4" orient="horz" pos="1977">
          <p15:clr>
            <a:srgbClr val="FBAE40"/>
          </p15:clr>
        </p15:guide>
        <p15:guide id="5" orient="horz" pos="2930">
          <p15:clr>
            <a:srgbClr val="FBAE40"/>
          </p15:clr>
        </p15:guide>
        <p15:guide id="6" orient="horz" pos="2641">
          <p15:clr>
            <a:srgbClr val="FBAE40"/>
          </p15:clr>
        </p15:guide>
        <p15:guide id="7" pos="289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Icons and Content">
  <p:cSld name="Title, Icons and Content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7869" y="98885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869" y="1469040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869" y="1948824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869" y="2427167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868" y="2907797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>
            <a:spLocks noGrp="1"/>
          </p:cNvSpPr>
          <p:nvPr>
            <p:ph type="body" idx="1"/>
          </p:nvPr>
        </p:nvSpPr>
        <p:spPr>
          <a:xfrm>
            <a:off x="878243" y="1572506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1" name="Google Shape;381;p24"/>
          <p:cNvSpPr txBox="1">
            <a:spLocks noGrp="1"/>
          </p:cNvSpPr>
          <p:nvPr>
            <p:ph type="body" idx="2"/>
          </p:nvPr>
        </p:nvSpPr>
        <p:spPr>
          <a:xfrm>
            <a:off x="878243" y="1088140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p24"/>
          <p:cNvSpPr txBox="1">
            <a:spLocks noGrp="1"/>
          </p:cNvSpPr>
          <p:nvPr>
            <p:ph type="body" idx="3"/>
          </p:nvPr>
        </p:nvSpPr>
        <p:spPr>
          <a:xfrm>
            <a:off x="878243" y="2046971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p24"/>
          <p:cNvSpPr txBox="1">
            <a:spLocks noGrp="1"/>
          </p:cNvSpPr>
          <p:nvPr>
            <p:ph type="body" idx="4"/>
          </p:nvPr>
        </p:nvSpPr>
        <p:spPr>
          <a:xfrm>
            <a:off x="878243" y="252895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4" name="Google Shape;384;p24"/>
          <p:cNvSpPr txBox="1">
            <a:spLocks noGrp="1"/>
          </p:cNvSpPr>
          <p:nvPr>
            <p:ph type="body" idx="5"/>
          </p:nvPr>
        </p:nvSpPr>
        <p:spPr>
          <a:xfrm>
            <a:off x="878243" y="3005394"/>
            <a:ext cx="2471738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p24"/>
          <p:cNvSpPr txBox="1">
            <a:spLocks noGrp="1"/>
          </p:cNvSpPr>
          <p:nvPr>
            <p:ph type="body" idx="6"/>
          </p:nvPr>
        </p:nvSpPr>
        <p:spPr>
          <a:xfrm>
            <a:off x="4359486" y="1572507"/>
            <a:ext cx="2413617" cy="231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p24"/>
          <p:cNvSpPr txBox="1">
            <a:spLocks noGrp="1"/>
          </p:cNvSpPr>
          <p:nvPr>
            <p:ph type="body" idx="7"/>
          </p:nvPr>
        </p:nvSpPr>
        <p:spPr>
          <a:xfrm>
            <a:off x="4359486" y="1088140"/>
            <a:ext cx="2413617" cy="241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7" name="Google Shape;387;p24"/>
          <p:cNvSpPr txBox="1">
            <a:spLocks noGrp="1"/>
          </p:cNvSpPr>
          <p:nvPr>
            <p:ph type="body" idx="8"/>
          </p:nvPr>
        </p:nvSpPr>
        <p:spPr>
          <a:xfrm>
            <a:off x="4359486" y="2046971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8" name="Google Shape;388;p24"/>
          <p:cNvSpPr txBox="1">
            <a:spLocks noGrp="1"/>
          </p:cNvSpPr>
          <p:nvPr>
            <p:ph type="body" idx="9"/>
          </p:nvPr>
        </p:nvSpPr>
        <p:spPr>
          <a:xfrm>
            <a:off x="4359486" y="252895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9" name="Google Shape;389;p24"/>
          <p:cNvSpPr txBox="1">
            <a:spLocks noGrp="1"/>
          </p:cNvSpPr>
          <p:nvPr>
            <p:ph type="body" idx="13"/>
          </p:nvPr>
        </p:nvSpPr>
        <p:spPr>
          <a:xfrm>
            <a:off x="4359486" y="3005394"/>
            <a:ext cx="2413617" cy="20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0" name="Google Shape;390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2" name="Google Shape;39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427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427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0427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0427" y="243555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0426" y="2916182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74155" y="99723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74154" y="1477425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74153" y="1957209"/>
            <a:ext cx="402337" cy="400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4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874153" y="2434706"/>
            <a:ext cx="402337" cy="40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874153" y="2914489"/>
            <a:ext cx="402337" cy="4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4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78">
          <p15:clr>
            <a:srgbClr val="FBAE40"/>
          </p15:clr>
        </p15:guide>
        <p15:guide id="2" pos="397">
          <p15:clr>
            <a:srgbClr val="FBAE40"/>
          </p15:clr>
        </p15:guide>
        <p15:guide id="3" orient="horz" pos="378">
          <p15:clr>
            <a:srgbClr val="FBAE40"/>
          </p15:clr>
        </p15:guide>
        <p15:guide id="4" orient="horz" pos="923">
          <p15:clr>
            <a:srgbClr val="FBAE40"/>
          </p15:clr>
        </p15:guide>
        <p15:guide id="5" pos="1638">
          <p15:clr>
            <a:srgbClr val="FBAE40"/>
          </p15:clr>
        </p15:guide>
        <p15:guide id="6" pos="3578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pos="1877">
          <p15:clr>
            <a:srgbClr val="FBAE40"/>
          </p15:clr>
        </p15:guide>
        <p15:guide id="9" pos="1928">
          <p15:clr>
            <a:srgbClr val="FBAE40"/>
          </p15:clr>
        </p15:guide>
        <p15:guide id="10" pos="383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Section Header">
  <p:cSld name="5_Section Header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5"/>
          <p:cNvSpPr/>
          <p:nvPr/>
        </p:nvSpPr>
        <p:spPr>
          <a:xfrm>
            <a:off x="629841" y="2556933"/>
            <a:ext cx="7891859" cy="82662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25"/>
          <p:cNvGrpSpPr/>
          <p:nvPr/>
        </p:nvGrpSpPr>
        <p:grpSpPr>
          <a:xfrm>
            <a:off x="994787" y="3020755"/>
            <a:ext cx="775019" cy="174751"/>
            <a:chOff x="1326382" y="4041646"/>
            <a:chExt cx="2597497" cy="653143"/>
          </a:xfrm>
        </p:grpSpPr>
        <p:sp>
          <p:nvSpPr>
            <p:cNvPr id="409" name="Google Shape;409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25"/>
          <p:cNvSpPr txBox="1">
            <a:spLocks noGrp="1"/>
          </p:cNvSpPr>
          <p:nvPr>
            <p:ph type="body" idx="1"/>
          </p:nvPr>
        </p:nvSpPr>
        <p:spPr>
          <a:xfrm>
            <a:off x="1029406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5" name="Google Shape;415;p25"/>
          <p:cNvSpPr txBox="1">
            <a:spLocks noGrp="1"/>
          </p:cNvSpPr>
          <p:nvPr>
            <p:ph type="body" idx="2"/>
          </p:nvPr>
        </p:nvSpPr>
        <p:spPr>
          <a:xfrm>
            <a:off x="1921844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6" name="Google Shape;416;p25"/>
          <p:cNvSpPr txBox="1">
            <a:spLocks noGrp="1"/>
          </p:cNvSpPr>
          <p:nvPr>
            <p:ph type="body" idx="3"/>
          </p:nvPr>
        </p:nvSpPr>
        <p:spPr>
          <a:xfrm>
            <a:off x="2868429" y="3714682"/>
            <a:ext cx="2471738" cy="13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7" name="Google Shape;417;p25"/>
          <p:cNvSpPr txBox="1">
            <a:spLocks noGrp="1"/>
          </p:cNvSpPr>
          <p:nvPr>
            <p:ph type="dt" idx="10"/>
          </p:nvPr>
        </p:nvSpPr>
        <p:spPr>
          <a:xfrm>
            <a:off x="6367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5"/>
          <p:cNvSpPr txBox="1">
            <a:spLocks noGrp="1"/>
          </p:cNvSpPr>
          <p:nvPr>
            <p:ph type="sldNum" idx="12"/>
          </p:nvPr>
        </p:nvSpPr>
        <p:spPr>
          <a:xfrm>
            <a:off x="6466042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11920" y="303610"/>
            <a:ext cx="909780" cy="242888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5"/>
          <p:cNvSpPr/>
          <p:nvPr/>
        </p:nvSpPr>
        <p:spPr>
          <a:xfrm>
            <a:off x="0" y="0"/>
            <a:ext cx="9144000" cy="3031236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629841" y="2535239"/>
            <a:ext cx="7939088" cy="8483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2" name="Google Shape;422;p25"/>
          <p:cNvGrpSpPr/>
          <p:nvPr/>
        </p:nvGrpSpPr>
        <p:grpSpPr>
          <a:xfrm>
            <a:off x="923664" y="3020755"/>
            <a:ext cx="775019" cy="174751"/>
            <a:chOff x="1326382" y="4041646"/>
            <a:chExt cx="2597497" cy="653143"/>
          </a:xfrm>
        </p:grpSpPr>
        <p:sp>
          <p:nvSpPr>
            <p:cNvPr id="423" name="Google Shape;423;p25"/>
            <p:cNvSpPr/>
            <p:nvPr/>
          </p:nvSpPr>
          <p:spPr>
            <a:xfrm>
              <a:off x="1326382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1974500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25"/>
            <p:cNvSpPr/>
            <p:nvPr/>
          </p:nvSpPr>
          <p:spPr>
            <a:xfrm>
              <a:off x="2622617" y="4041646"/>
              <a:ext cx="653143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5"/>
            <p:cNvSpPr/>
            <p:nvPr/>
          </p:nvSpPr>
          <p:spPr>
            <a:xfrm>
              <a:off x="3270737" y="4041646"/>
              <a:ext cx="653142" cy="653143"/>
            </a:xfrm>
            <a:prstGeom prst="star5">
              <a:avLst>
                <a:gd name="adj" fmla="val 19098"/>
                <a:gd name="hf" fmla="val 105146"/>
                <a:gd name="vf" fmla="val 110557"/>
              </a:avLst>
            </a:prstGeom>
            <a:solidFill>
              <a:srgbClr val="F533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3597306" y="4041650"/>
              <a:ext cx="326569" cy="653139"/>
            </a:xfrm>
            <a:custGeom>
              <a:avLst/>
              <a:gdLst/>
              <a:ahLst/>
              <a:cxnLst/>
              <a:rect l="l" t="t" r="r" b="b"/>
              <a:pathLst>
                <a:path w="326570" h="653141" extrusionOk="0">
                  <a:moveTo>
                    <a:pt x="0" y="0"/>
                  </a:moveTo>
                  <a:lnTo>
                    <a:pt x="77091" y="249480"/>
                  </a:lnTo>
                  <a:lnTo>
                    <a:pt x="326570" y="249478"/>
                  </a:lnTo>
                  <a:lnTo>
                    <a:pt x="124736" y="403663"/>
                  </a:lnTo>
                  <a:lnTo>
                    <a:pt x="201831" y="653141"/>
                  </a:lnTo>
                  <a:lnTo>
                    <a:pt x="0" y="4989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1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25"/>
          <p:cNvSpPr txBox="1">
            <a:spLocks noGrp="1"/>
          </p:cNvSpPr>
          <p:nvPr>
            <p:ph type="body" idx="4"/>
          </p:nvPr>
        </p:nvSpPr>
        <p:spPr>
          <a:xfrm>
            <a:off x="958283" y="2721203"/>
            <a:ext cx="846528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5"/>
          </p:nvPr>
        </p:nvSpPr>
        <p:spPr>
          <a:xfrm>
            <a:off x="1850721" y="3016014"/>
            <a:ext cx="946585" cy="184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630238" y="600075"/>
            <a:ext cx="6246812" cy="44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31" name="Google Shape;4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8">
          <p15:clr>
            <a:srgbClr val="FBAE40"/>
          </p15:clr>
        </p15:guide>
        <p15:guide id="2" orient="horz" pos="2210">
          <p15:clr>
            <a:srgbClr val="FBAE40"/>
          </p15:clr>
        </p15:guide>
        <p15:guide id="3" orient="horz" pos="2130">
          <p15:clr>
            <a:srgbClr val="FBAE40"/>
          </p15:clr>
        </p15:guide>
        <p15:guide id="4" orient="horz" pos="1597">
          <p15:clr>
            <a:srgbClr val="FBAE40"/>
          </p15:clr>
        </p15:guide>
        <p15:guide id="5" orient="horz" pos="2641">
          <p15:clr>
            <a:srgbClr val="FBAE40"/>
          </p15:clr>
        </p15:guide>
        <p15:guide id="6" pos="1134">
          <p15:clr>
            <a:srgbClr val="FBAE40"/>
          </p15:clr>
        </p15:guide>
        <p15:guide id="7" pos="43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Imeline Infographic">
  <p:cSld name="Title and TImeline Infographic"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35" name="Google Shape;435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>
            <a:spLocks noGrp="1"/>
          </p:cNvSpPr>
          <p:nvPr>
            <p:ph type="body" idx="1"/>
          </p:nvPr>
        </p:nvSpPr>
        <p:spPr>
          <a:xfrm>
            <a:off x="991750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7" name="Google Shape;437;p26"/>
          <p:cNvSpPr txBox="1">
            <a:spLocks noGrp="1"/>
          </p:cNvSpPr>
          <p:nvPr>
            <p:ph type="body" idx="2"/>
          </p:nvPr>
        </p:nvSpPr>
        <p:spPr>
          <a:xfrm>
            <a:off x="991750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8" name="Google Shape;438;p26"/>
          <p:cNvSpPr txBox="1">
            <a:spLocks noGrp="1"/>
          </p:cNvSpPr>
          <p:nvPr>
            <p:ph type="body" idx="3"/>
          </p:nvPr>
        </p:nvSpPr>
        <p:spPr>
          <a:xfrm>
            <a:off x="991750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9" name="Google Shape;439;p26"/>
          <p:cNvSpPr txBox="1">
            <a:spLocks noGrp="1"/>
          </p:cNvSpPr>
          <p:nvPr>
            <p:ph type="body" idx="4"/>
          </p:nvPr>
        </p:nvSpPr>
        <p:spPr>
          <a:xfrm>
            <a:off x="244048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0" name="Google Shape;440;p26"/>
          <p:cNvSpPr txBox="1">
            <a:spLocks noGrp="1"/>
          </p:cNvSpPr>
          <p:nvPr>
            <p:ph type="body" idx="5"/>
          </p:nvPr>
        </p:nvSpPr>
        <p:spPr>
          <a:xfrm>
            <a:off x="244048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1" name="Google Shape;441;p26"/>
          <p:cNvSpPr txBox="1">
            <a:spLocks noGrp="1"/>
          </p:cNvSpPr>
          <p:nvPr>
            <p:ph type="body" idx="6"/>
          </p:nvPr>
        </p:nvSpPr>
        <p:spPr>
          <a:xfrm>
            <a:off x="244048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2" name="Google Shape;442;p26"/>
          <p:cNvSpPr txBox="1">
            <a:spLocks noGrp="1"/>
          </p:cNvSpPr>
          <p:nvPr>
            <p:ph type="body" idx="7"/>
          </p:nvPr>
        </p:nvSpPr>
        <p:spPr>
          <a:xfrm>
            <a:off x="3892297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3" name="Google Shape;443;p26"/>
          <p:cNvSpPr txBox="1">
            <a:spLocks noGrp="1"/>
          </p:cNvSpPr>
          <p:nvPr>
            <p:ph type="body" idx="8"/>
          </p:nvPr>
        </p:nvSpPr>
        <p:spPr>
          <a:xfrm>
            <a:off x="3892297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4" name="Google Shape;444;p26"/>
          <p:cNvSpPr txBox="1">
            <a:spLocks noGrp="1"/>
          </p:cNvSpPr>
          <p:nvPr>
            <p:ph type="body" idx="9"/>
          </p:nvPr>
        </p:nvSpPr>
        <p:spPr>
          <a:xfrm>
            <a:off x="3892297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body" idx="13"/>
          </p:nvPr>
        </p:nvSpPr>
        <p:spPr>
          <a:xfrm>
            <a:off x="5326899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14"/>
          </p:nvPr>
        </p:nvSpPr>
        <p:spPr>
          <a:xfrm>
            <a:off x="5326899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7" name="Google Shape;447;p26"/>
          <p:cNvSpPr txBox="1">
            <a:spLocks noGrp="1"/>
          </p:cNvSpPr>
          <p:nvPr>
            <p:ph type="body" idx="15"/>
          </p:nvPr>
        </p:nvSpPr>
        <p:spPr>
          <a:xfrm>
            <a:off x="5326899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16"/>
          </p:nvPr>
        </p:nvSpPr>
        <p:spPr>
          <a:xfrm>
            <a:off x="6735161" y="1746401"/>
            <a:ext cx="740399" cy="249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7"/>
          </p:nvPr>
        </p:nvSpPr>
        <p:spPr>
          <a:xfrm>
            <a:off x="6735161" y="2056441"/>
            <a:ext cx="1324840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body" idx="18"/>
          </p:nvPr>
        </p:nvSpPr>
        <p:spPr>
          <a:xfrm>
            <a:off x="6735161" y="2281691"/>
            <a:ext cx="1149473" cy="165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19"/>
          </p:nvPr>
        </p:nvSpPr>
        <p:spPr>
          <a:xfrm>
            <a:off x="904066" y="3531649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2" name="Google Shape;452;p26"/>
          <p:cNvSpPr txBox="1">
            <a:spLocks noGrp="1"/>
          </p:cNvSpPr>
          <p:nvPr>
            <p:ph type="body" idx="20"/>
          </p:nvPr>
        </p:nvSpPr>
        <p:spPr>
          <a:xfrm>
            <a:off x="2352802" y="3531649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3" name="Google Shape;453;p26"/>
          <p:cNvSpPr txBox="1">
            <a:spLocks noGrp="1"/>
          </p:cNvSpPr>
          <p:nvPr>
            <p:ph type="body" idx="21"/>
          </p:nvPr>
        </p:nvSpPr>
        <p:spPr>
          <a:xfrm>
            <a:off x="3829621" y="3531648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4" name="Google Shape;454;p26"/>
          <p:cNvSpPr txBox="1">
            <a:spLocks noGrp="1"/>
          </p:cNvSpPr>
          <p:nvPr>
            <p:ph type="body" idx="22"/>
          </p:nvPr>
        </p:nvSpPr>
        <p:spPr>
          <a:xfrm>
            <a:off x="5306440" y="3531648"/>
            <a:ext cx="1324840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DDDDDD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DDDDDD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5" name="Google Shape;455;p26"/>
          <p:cNvSpPr txBox="1">
            <a:spLocks noGrp="1"/>
          </p:cNvSpPr>
          <p:nvPr>
            <p:ph type="body" idx="23"/>
          </p:nvPr>
        </p:nvSpPr>
        <p:spPr>
          <a:xfrm>
            <a:off x="6755176" y="3531647"/>
            <a:ext cx="1352923" cy="349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56" name="Google Shape;456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632499" y="2973622"/>
            <a:ext cx="7691174" cy="667936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6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6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59" name="Google Shape;45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">
  <p:cSld name="Title and Doughnut Chart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5" name="Google Shape;46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ne Chart">
  <p:cSld name="Title and Line Char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0" name="Google Shape;47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8"/>
          <p:cNvSpPr txBox="1">
            <a:spLocks noGrp="1"/>
          </p:cNvSpPr>
          <p:nvPr>
            <p:ph type="body" idx="1"/>
          </p:nvPr>
        </p:nvSpPr>
        <p:spPr>
          <a:xfrm>
            <a:off x="630238" y="1600199"/>
            <a:ext cx="3182128" cy="3006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3" name="Google Shape;473;p28"/>
          <p:cNvSpPr txBox="1">
            <a:spLocks noGrp="1"/>
          </p:cNvSpPr>
          <p:nvPr>
            <p:ph type="body" idx="2"/>
          </p:nvPr>
        </p:nvSpPr>
        <p:spPr>
          <a:xfrm>
            <a:off x="5306779" y="3059187"/>
            <a:ext cx="671653" cy="350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4" name="Google Shape;474;p28"/>
          <p:cNvSpPr txBox="1">
            <a:spLocks noGrp="1"/>
          </p:cNvSpPr>
          <p:nvPr>
            <p:ph type="body" idx="3"/>
          </p:nvPr>
        </p:nvSpPr>
        <p:spPr>
          <a:xfrm>
            <a:off x="6894111" y="3052728"/>
            <a:ext cx="671653" cy="32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CCCCCC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body" idx="4"/>
          </p:nvPr>
        </p:nvSpPr>
        <p:spPr>
          <a:xfrm>
            <a:off x="5306778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6" name="Google Shape;476;p28"/>
          <p:cNvSpPr txBox="1">
            <a:spLocks noGrp="1"/>
          </p:cNvSpPr>
          <p:nvPr>
            <p:ph type="body" idx="5"/>
          </p:nvPr>
        </p:nvSpPr>
        <p:spPr>
          <a:xfrm>
            <a:off x="5299344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6"/>
          </p:nvPr>
        </p:nvSpPr>
        <p:spPr>
          <a:xfrm>
            <a:off x="6890089" y="3559464"/>
            <a:ext cx="1077979" cy="21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03E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630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7"/>
          </p:nvPr>
        </p:nvSpPr>
        <p:spPr>
          <a:xfrm>
            <a:off x="6882655" y="3813792"/>
            <a:ext cx="1077979" cy="799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9" name="Google Shape;479;p28"/>
          <p:cNvSpPr>
            <a:spLocks noGrp="1"/>
          </p:cNvSpPr>
          <p:nvPr>
            <p:ph type="chart" idx="8"/>
          </p:nvPr>
        </p:nvSpPr>
        <p:spPr>
          <a:xfrm>
            <a:off x="5295900" y="1600200"/>
            <a:ext cx="32258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0" name="Google Shape;480;p28"/>
          <p:cNvSpPr/>
          <p:nvPr/>
        </p:nvSpPr>
        <p:spPr>
          <a:xfrm>
            <a:off x="3170379" y="4105875"/>
            <a:ext cx="1512168" cy="41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1" name="Google Shape;481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76215" y="3284258"/>
            <a:ext cx="1319792" cy="42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9469" y="3232411"/>
            <a:ext cx="1333750" cy="43198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8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5" name="Google Shape;48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1008">
          <p15:clr>
            <a:srgbClr val="FBAE40"/>
          </p15:clr>
        </p15:guide>
        <p15:guide id="3" orient="horz" pos="2754">
          <p15:clr>
            <a:srgbClr val="FBAE40"/>
          </p15:clr>
        </p15:guide>
        <p15:guide id="4" pos="24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oughnut Chart 2">
  <p:cSld name="Title and Doughnut Chart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89" name="Google Shape;48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9"/>
          <p:cNvSpPr txBox="1">
            <a:spLocks noGrp="1"/>
          </p:cNvSpPr>
          <p:nvPr>
            <p:ph type="body" idx="1"/>
          </p:nvPr>
        </p:nvSpPr>
        <p:spPr>
          <a:xfrm>
            <a:off x="2286696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3" name="Google Shape;493;p29"/>
          <p:cNvSpPr txBox="1">
            <a:spLocks noGrp="1"/>
          </p:cNvSpPr>
          <p:nvPr>
            <p:ph type="body" idx="2"/>
          </p:nvPr>
        </p:nvSpPr>
        <p:spPr>
          <a:xfrm>
            <a:off x="2286696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4" name="Google Shape;494;p29"/>
          <p:cNvSpPr txBox="1">
            <a:spLocks noGrp="1"/>
          </p:cNvSpPr>
          <p:nvPr>
            <p:ph type="body" idx="3"/>
          </p:nvPr>
        </p:nvSpPr>
        <p:spPr>
          <a:xfrm>
            <a:off x="4973335" y="257175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5" name="Google Shape;495;p29"/>
          <p:cNvSpPr txBox="1">
            <a:spLocks noGrp="1"/>
          </p:cNvSpPr>
          <p:nvPr>
            <p:ph type="body" idx="4"/>
          </p:nvPr>
        </p:nvSpPr>
        <p:spPr>
          <a:xfrm>
            <a:off x="4973335" y="2939370"/>
            <a:ext cx="1324840" cy="2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496" name="Google Shape;49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0619" y="1967641"/>
            <a:ext cx="2754306" cy="1408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659" y="1705476"/>
            <a:ext cx="4222864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2547" y="1697092"/>
            <a:ext cx="4222864" cy="216024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29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9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01" name="Google Shape;501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hic">
  <p:cSld name="Title and Infograhic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0"/>
          <p:cNvSpPr txBox="1">
            <a:spLocks noGrp="1"/>
          </p:cNvSpPr>
          <p:nvPr>
            <p:ph type="body" idx="1"/>
          </p:nvPr>
        </p:nvSpPr>
        <p:spPr>
          <a:xfrm>
            <a:off x="1263041" y="2104600"/>
            <a:ext cx="830454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8" name="Google Shape;508;p30"/>
          <p:cNvSpPr txBox="1">
            <a:spLocks noGrp="1"/>
          </p:cNvSpPr>
          <p:nvPr>
            <p:ph type="body" idx="2"/>
          </p:nvPr>
        </p:nvSpPr>
        <p:spPr>
          <a:xfrm>
            <a:off x="2470356" y="3778988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9" name="Google Shape;509;p30"/>
          <p:cNvSpPr txBox="1">
            <a:spLocks noGrp="1"/>
          </p:cNvSpPr>
          <p:nvPr>
            <p:ph type="body" idx="3"/>
          </p:nvPr>
        </p:nvSpPr>
        <p:spPr>
          <a:xfrm>
            <a:off x="3530790" y="2108961"/>
            <a:ext cx="824532" cy="287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0" name="Google Shape;510;p30"/>
          <p:cNvSpPr txBox="1">
            <a:spLocks noGrp="1"/>
          </p:cNvSpPr>
          <p:nvPr>
            <p:ph type="body" idx="4"/>
          </p:nvPr>
        </p:nvSpPr>
        <p:spPr>
          <a:xfrm>
            <a:off x="4729642" y="3771033"/>
            <a:ext cx="745627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1" name="Google Shape;511;p30"/>
          <p:cNvSpPr txBox="1">
            <a:spLocks noGrp="1"/>
          </p:cNvSpPr>
          <p:nvPr>
            <p:ph type="body" idx="5"/>
          </p:nvPr>
        </p:nvSpPr>
        <p:spPr>
          <a:xfrm>
            <a:off x="5904099" y="2107682"/>
            <a:ext cx="758842" cy="292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2" name="Google Shape;512;p30"/>
          <p:cNvSpPr txBox="1">
            <a:spLocks noGrp="1"/>
          </p:cNvSpPr>
          <p:nvPr>
            <p:ph type="body" idx="6"/>
          </p:nvPr>
        </p:nvSpPr>
        <p:spPr>
          <a:xfrm>
            <a:off x="7023857" y="3762859"/>
            <a:ext cx="784195" cy="30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6323E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F6323E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3" name="Google Shape;513;p30"/>
          <p:cNvSpPr txBox="1">
            <a:spLocks noGrp="1"/>
          </p:cNvSpPr>
          <p:nvPr>
            <p:ph type="body" idx="7"/>
          </p:nvPr>
        </p:nvSpPr>
        <p:spPr>
          <a:xfrm>
            <a:off x="2156171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4" name="Google Shape;514;p30"/>
          <p:cNvSpPr txBox="1">
            <a:spLocks noGrp="1"/>
          </p:cNvSpPr>
          <p:nvPr>
            <p:ph type="body" idx="8"/>
          </p:nvPr>
        </p:nvSpPr>
        <p:spPr>
          <a:xfrm>
            <a:off x="2156171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5" name="Google Shape;515;p30"/>
          <p:cNvSpPr txBox="1">
            <a:spLocks noGrp="1"/>
          </p:cNvSpPr>
          <p:nvPr>
            <p:ph type="body" idx="9"/>
          </p:nvPr>
        </p:nvSpPr>
        <p:spPr>
          <a:xfrm>
            <a:off x="4513908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6" name="Google Shape;516;p30"/>
          <p:cNvSpPr txBox="1">
            <a:spLocks noGrp="1"/>
          </p:cNvSpPr>
          <p:nvPr>
            <p:ph type="body" idx="13"/>
          </p:nvPr>
        </p:nvSpPr>
        <p:spPr>
          <a:xfrm>
            <a:off x="4513908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7" name="Google Shape;517;p30"/>
          <p:cNvSpPr txBox="1">
            <a:spLocks noGrp="1"/>
          </p:cNvSpPr>
          <p:nvPr>
            <p:ph type="body" idx="14"/>
          </p:nvPr>
        </p:nvSpPr>
        <p:spPr>
          <a:xfrm>
            <a:off x="6720777" y="125799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8" name="Google Shape;518;p30"/>
          <p:cNvSpPr txBox="1">
            <a:spLocks noGrp="1"/>
          </p:cNvSpPr>
          <p:nvPr>
            <p:ph type="body" idx="15"/>
          </p:nvPr>
        </p:nvSpPr>
        <p:spPr>
          <a:xfrm>
            <a:off x="6720777" y="152366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9" name="Google Shape;519;p30"/>
          <p:cNvSpPr txBox="1">
            <a:spLocks noGrp="1"/>
          </p:cNvSpPr>
          <p:nvPr>
            <p:ph type="body" idx="16"/>
          </p:nvPr>
        </p:nvSpPr>
        <p:spPr>
          <a:xfrm>
            <a:off x="995265" y="3791876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0" name="Google Shape;520;p30"/>
          <p:cNvSpPr txBox="1">
            <a:spLocks noGrp="1"/>
          </p:cNvSpPr>
          <p:nvPr>
            <p:ph type="body" idx="17"/>
          </p:nvPr>
        </p:nvSpPr>
        <p:spPr>
          <a:xfrm>
            <a:off x="995265" y="405754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1" name="Google Shape;521;p30"/>
          <p:cNvSpPr txBox="1">
            <a:spLocks noGrp="1"/>
          </p:cNvSpPr>
          <p:nvPr>
            <p:ph type="body" idx="18"/>
          </p:nvPr>
        </p:nvSpPr>
        <p:spPr>
          <a:xfrm>
            <a:off x="3326285" y="377969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2" name="Google Shape;522;p30"/>
          <p:cNvSpPr txBox="1">
            <a:spLocks noGrp="1"/>
          </p:cNvSpPr>
          <p:nvPr>
            <p:ph type="body" idx="19"/>
          </p:nvPr>
        </p:nvSpPr>
        <p:spPr>
          <a:xfrm>
            <a:off x="3326285" y="404535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3" name="Google Shape;523;p30"/>
          <p:cNvSpPr txBox="1">
            <a:spLocks noGrp="1"/>
          </p:cNvSpPr>
          <p:nvPr>
            <p:ph type="body" idx="20"/>
          </p:nvPr>
        </p:nvSpPr>
        <p:spPr>
          <a:xfrm>
            <a:off x="5599996" y="3758972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4" name="Google Shape;524;p30"/>
          <p:cNvSpPr txBox="1">
            <a:spLocks noGrp="1"/>
          </p:cNvSpPr>
          <p:nvPr>
            <p:ph type="body" idx="21"/>
          </p:nvPr>
        </p:nvSpPr>
        <p:spPr>
          <a:xfrm>
            <a:off x="5599996" y="4024639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25" name="Google Shape;525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602" y="2566307"/>
            <a:ext cx="2538282" cy="1298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760" y="1581506"/>
            <a:ext cx="7431156" cy="299920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0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0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29" name="Google Shape;529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2">
  <p:cSld name="Title and Infographic 2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2" name="Google Shape;532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33" name="Google Shape;533;p31" descr="C:\Users\diyajoseph\Desktop\New folder (3)\Infographics-01-0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9184" y="1331625"/>
            <a:ext cx="3644856" cy="3644859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>
            <a:spLocks noGrp="1"/>
          </p:cNvSpPr>
          <p:nvPr>
            <p:ph type="body" idx="1"/>
          </p:nvPr>
        </p:nvSpPr>
        <p:spPr>
          <a:xfrm>
            <a:off x="630238" y="1347788"/>
            <a:ext cx="3182128" cy="277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5" name="Google Shape;535;p31"/>
          <p:cNvSpPr txBox="1">
            <a:spLocks noGrp="1"/>
          </p:cNvSpPr>
          <p:nvPr>
            <p:ph type="body" idx="2"/>
          </p:nvPr>
        </p:nvSpPr>
        <p:spPr>
          <a:xfrm>
            <a:off x="6433953" y="172210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6" name="Google Shape;536;p31"/>
          <p:cNvSpPr txBox="1">
            <a:spLocks noGrp="1"/>
          </p:cNvSpPr>
          <p:nvPr>
            <p:ph type="body" idx="3"/>
          </p:nvPr>
        </p:nvSpPr>
        <p:spPr>
          <a:xfrm>
            <a:off x="6433953" y="198777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7" name="Google Shape;537;p31"/>
          <p:cNvSpPr txBox="1">
            <a:spLocks noGrp="1"/>
          </p:cNvSpPr>
          <p:nvPr>
            <p:ph type="body" idx="4"/>
          </p:nvPr>
        </p:nvSpPr>
        <p:spPr>
          <a:xfrm>
            <a:off x="4628562" y="3026158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8" name="Google Shape;538;p31"/>
          <p:cNvSpPr txBox="1">
            <a:spLocks noGrp="1"/>
          </p:cNvSpPr>
          <p:nvPr>
            <p:ph type="body" idx="5"/>
          </p:nvPr>
        </p:nvSpPr>
        <p:spPr>
          <a:xfrm>
            <a:off x="7003447" y="2783735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9" name="Google Shape;539;p31"/>
          <p:cNvSpPr txBox="1">
            <a:spLocks noGrp="1"/>
          </p:cNvSpPr>
          <p:nvPr>
            <p:ph type="body" idx="6"/>
          </p:nvPr>
        </p:nvSpPr>
        <p:spPr>
          <a:xfrm>
            <a:off x="7009593" y="3303767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0" name="Google Shape;540;p31"/>
          <p:cNvSpPr txBox="1">
            <a:spLocks noGrp="1"/>
          </p:cNvSpPr>
          <p:nvPr>
            <p:ph type="body" idx="7"/>
          </p:nvPr>
        </p:nvSpPr>
        <p:spPr>
          <a:xfrm>
            <a:off x="7009593" y="3569434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1" name="Google Shape;541;p31"/>
          <p:cNvSpPr txBox="1">
            <a:spLocks noGrp="1"/>
          </p:cNvSpPr>
          <p:nvPr>
            <p:ph type="body" idx="8"/>
          </p:nvPr>
        </p:nvSpPr>
        <p:spPr>
          <a:xfrm>
            <a:off x="6433953" y="4034311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2" name="Google Shape;542;p31"/>
          <p:cNvSpPr txBox="1">
            <a:spLocks noGrp="1"/>
          </p:cNvSpPr>
          <p:nvPr>
            <p:ph type="body" idx="9"/>
          </p:nvPr>
        </p:nvSpPr>
        <p:spPr>
          <a:xfrm>
            <a:off x="6433953" y="4299978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3" name="Google Shape;543;p31"/>
          <p:cNvSpPr txBox="1">
            <a:spLocks noGrp="1"/>
          </p:cNvSpPr>
          <p:nvPr>
            <p:ph type="body" idx="13"/>
          </p:nvPr>
        </p:nvSpPr>
        <p:spPr>
          <a:xfrm>
            <a:off x="7001132" y="2524953"/>
            <a:ext cx="1331623" cy="21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orient="horz" pos="849">
          <p15:clr>
            <a:srgbClr val="FBAE40"/>
          </p15:clr>
        </p15:guide>
        <p15:guide id="3" orient="horz" pos="2663">
          <p15:clr>
            <a:srgbClr val="FBAE40"/>
          </p15:clr>
        </p15:guide>
        <p15:guide id="4" pos="25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nfographic 3">
  <p:cSld name="Title and Infographic 3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49" name="Google Shape;549;p32"/>
          <p:cNvSpPr txBox="1">
            <a:spLocks noGrp="1"/>
          </p:cNvSpPr>
          <p:nvPr>
            <p:ph type="body" idx="1"/>
          </p:nvPr>
        </p:nvSpPr>
        <p:spPr>
          <a:xfrm>
            <a:off x="2184783" y="1316876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0" name="Google Shape;550;p32"/>
          <p:cNvSpPr txBox="1">
            <a:spLocks noGrp="1"/>
          </p:cNvSpPr>
          <p:nvPr>
            <p:ph type="body" idx="2"/>
          </p:nvPr>
        </p:nvSpPr>
        <p:spPr>
          <a:xfrm>
            <a:off x="2184783" y="1496505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1" name="Google Shape;551;p32"/>
          <p:cNvSpPr txBox="1">
            <a:spLocks noGrp="1"/>
          </p:cNvSpPr>
          <p:nvPr>
            <p:ph type="body" idx="3"/>
          </p:nvPr>
        </p:nvSpPr>
        <p:spPr>
          <a:xfrm>
            <a:off x="2184783" y="1708544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2" name="Google Shape;552;p32"/>
          <p:cNvSpPr txBox="1">
            <a:spLocks noGrp="1"/>
          </p:cNvSpPr>
          <p:nvPr>
            <p:ph type="body" idx="4"/>
          </p:nvPr>
        </p:nvSpPr>
        <p:spPr>
          <a:xfrm>
            <a:off x="1648313" y="216053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3" name="Google Shape;553;p32"/>
          <p:cNvSpPr txBox="1">
            <a:spLocks noGrp="1"/>
          </p:cNvSpPr>
          <p:nvPr>
            <p:ph type="body" idx="5"/>
          </p:nvPr>
        </p:nvSpPr>
        <p:spPr>
          <a:xfrm>
            <a:off x="1648313" y="234016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4" name="Google Shape;554;p32"/>
          <p:cNvSpPr txBox="1">
            <a:spLocks noGrp="1"/>
          </p:cNvSpPr>
          <p:nvPr>
            <p:ph type="body" idx="6"/>
          </p:nvPr>
        </p:nvSpPr>
        <p:spPr>
          <a:xfrm>
            <a:off x="1648313" y="255220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5" name="Google Shape;555;p32"/>
          <p:cNvSpPr txBox="1">
            <a:spLocks noGrp="1"/>
          </p:cNvSpPr>
          <p:nvPr>
            <p:ph type="body" idx="7"/>
          </p:nvPr>
        </p:nvSpPr>
        <p:spPr>
          <a:xfrm>
            <a:off x="1670695" y="3113991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6" name="Google Shape;556;p32"/>
          <p:cNvSpPr txBox="1">
            <a:spLocks noGrp="1"/>
          </p:cNvSpPr>
          <p:nvPr>
            <p:ph type="body" idx="8"/>
          </p:nvPr>
        </p:nvSpPr>
        <p:spPr>
          <a:xfrm>
            <a:off x="1670695" y="3293620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7" name="Google Shape;557;p32"/>
          <p:cNvSpPr txBox="1">
            <a:spLocks noGrp="1"/>
          </p:cNvSpPr>
          <p:nvPr>
            <p:ph type="body" idx="9"/>
          </p:nvPr>
        </p:nvSpPr>
        <p:spPr>
          <a:xfrm>
            <a:off x="1670695" y="3505659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8" name="Google Shape;558;p32"/>
          <p:cNvSpPr txBox="1">
            <a:spLocks noGrp="1"/>
          </p:cNvSpPr>
          <p:nvPr>
            <p:ph type="body" idx="13"/>
          </p:nvPr>
        </p:nvSpPr>
        <p:spPr>
          <a:xfrm>
            <a:off x="2154251" y="3833167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9" name="Google Shape;559;p32"/>
          <p:cNvSpPr txBox="1">
            <a:spLocks noGrp="1"/>
          </p:cNvSpPr>
          <p:nvPr>
            <p:ph type="body" idx="14"/>
          </p:nvPr>
        </p:nvSpPr>
        <p:spPr>
          <a:xfrm>
            <a:off x="2154251" y="4012796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0" name="Google Shape;560;p32"/>
          <p:cNvSpPr txBox="1">
            <a:spLocks noGrp="1"/>
          </p:cNvSpPr>
          <p:nvPr>
            <p:ph type="body" idx="15"/>
          </p:nvPr>
        </p:nvSpPr>
        <p:spPr>
          <a:xfrm>
            <a:off x="2154251" y="4224835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6"/>
          </p:nvPr>
        </p:nvSpPr>
        <p:spPr>
          <a:xfrm>
            <a:off x="5711844" y="1274684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17"/>
          </p:nvPr>
        </p:nvSpPr>
        <p:spPr>
          <a:xfrm>
            <a:off x="5711844" y="1454313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3" name="Google Shape;563;p32"/>
          <p:cNvSpPr txBox="1">
            <a:spLocks noGrp="1"/>
          </p:cNvSpPr>
          <p:nvPr>
            <p:ph type="body" idx="18"/>
          </p:nvPr>
        </p:nvSpPr>
        <p:spPr>
          <a:xfrm>
            <a:off x="5711844" y="1666352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4" name="Google Shape;564;p32"/>
          <p:cNvSpPr txBox="1">
            <a:spLocks noGrp="1"/>
          </p:cNvSpPr>
          <p:nvPr>
            <p:ph type="body" idx="19"/>
          </p:nvPr>
        </p:nvSpPr>
        <p:spPr>
          <a:xfrm>
            <a:off x="6247590" y="2081713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5" name="Google Shape;565;p32"/>
          <p:cNvSpPr txBox="1">
            <a:spLocks noGrp="1"/>
          </p:cNvSpPr>
          <p:nvPr>
            <p:ph type="body" idx="20"/>
          </p:nvPr>
        </p:nvSpPr>
        <p:spPr>
          <a:xfrm>
            <a:off x="6247590" y="2261342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6" name="Google Shape;566;p32"/>
          <p:cNvSpPr txBox="1">
            <a:spLocks noGrp="1"/>
          </p:cNvSpPr>
          <p:nvPr>
            <p:ph type="body" idx="21"/>
          </p:nvPr>
        </p:nvSpPr>
        <p:spPr>
          <a:xfrm>
            <a:off x="6247590" y="2473381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7" name="Google Shape;567;p32"/>
          <p:cNvSpPr txBox="1">
            <a:spLocks noGrp="1"/>
          </p:cNvSpPr>
          <p:nvPr>
            <p:ph type="body" idx="22"/>
          </p:nvPr>
        </p:nvSpPr>
        <p:spPr>
          <a:xfrm>
            <a:off x="6247590" y="3009669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1333F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F1333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8" name="Google Shape;568;p32"/>
          <p:cNvSpPr txBox="1">
            <a:spLocks noGrp="1"/>
          </p:cNvSpPr>
          <p:nvPr>
            <p:ph type="body" idx="23"/>
          </p:nvPr>
        </p:nvSpPr>
        <p:spPr>
          <a:xfrm>
            <a:off x="6247590" y="3189298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9" name="Google Shape;569;p32"/>
          <p:cNvSpPr txBox="1">
            <a:spLocks noGrp="1"/>
          </p:cNvSpPr>
          <p:nvPr>
            <p:ph type="body" idx="24"/>
          </p:nvPr>
        </p:nvSpPr>
        <p:spPr>
          <a:xfrm>
            <a:off x="6247590" y="3401337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0" name="Google Shape;570;p32"/>
          <p:cNvSpPr txBox="1">
            <a:spLocks noGrp="1"/>
          </p:cNvSpPr>
          <p:nvPr>
            <p:ph type="body" idx="25"/>
          </p:nvPr>
        </p:nvSpPr>
        <p:spPr>
          <a:xfrm>
            <a:off x="5911033" y="3827718"/>
            <a:ext cx="1331623" cy="14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000"/>
              <a:buFont typeface="Arial"/>
              <a:buNone/>
              <a:defRPr sz="10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1" name="Google Shape;571;p32"/>
          <p:cNvSpPr txBox="1">
            <a:spLocks noGrp="1"/>
          </p:cNvSpPr>
          <p:nvPr>
            <p:ph type="body" idx="26"/>
          </p:nvPr>
        </p:nvSpPr>
        <p:spPr>
          <a:xfrm>
            <a:off x="5911033" y="4007347"/>
            <a:ext cx="1331623" cy="17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2" name="Google Shape;572;p32"/>
          <p:cNvSpPr txBox="1">
            <a:spLocks noGrp="1"/>
          </p:cNvSpPr>
          <p:nvPr>
            <p:ph type="body" idx="27"/>
          </p:nvPr>
        </p:nvSpPr>
        <p:spPr>
          <a:xfrm>
            <a:off x="5911033" y="4219386"/>
            <a:ext cx="1331623" cy="18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573" name="Google Shape;573;p32"/>
          <p:cNvGrpSpPr/>
          <p:nvPr/>
        </p:nvGrpSpPr>
        <p:grpSpPr>
          <a:xfrm>
            <a:off x="3064089" y="1322496"/>
            <a:ext cx="3130304" cy="3130304"/>
            <a:chOff x="1725851" y="197234"/>
            <a:chExt cx="4799362" cy="4799363"/>
          </a:xfrm>
        </p:grpSpPr>
        <p:sp>
          <p:nvSpPr>
            <p:cNvPr id="574" name="Google Shape;574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3500000"/>
                <a:gd name="adj2" fmla="val 162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0800000"/>
                <a:gd name="adj2" fmla="val 13500000"/>
                <a:gd name="adj3" fmla="val 3430"/>
              </a:avLst>
            </a:prstGeom>
            <a:solidFill>
              <a:srgbClr val="9D9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8100000"/>
                <a:gd name="adj2" fmla="val 10800000"/>
                <a:gd name="adj3" fmla="val 343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5400000"/>
                <a:gd name="adj2" fmla="val 8100000"/>
                <a:gd name="adj3" fmla="val 3430"/>
              </a:avLst>
            </a:prstGeom>
            <a:solidFill>
              <a:srgbClr val="B4B4B4"/>
            </a:solidFill>
            <a:ln w="9525" cap="flat" cmpd="sng">
              <a:solidFill>
                <a:srgbClr val="A8A8A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2700000"/>
                <a:gd name="adj2" fmla="val 5400000"/>
                <a:gd name="adj3" fmla="val 343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0"/>
                <a:gd name="adj2" fmla="val 27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8900000"/>
                <a:gd name="adj2" fmla="val 0"/>
                <a:gd name="adj3" fmla="val 343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2"/>
            <p:cNvSpPr/>
            <p:nvPr/>
          </p:nvSpPr>
          <p:spPr>
            <a:xfrm>
              <a:off x="2160294" y="631678"/>
              <a:ext cx="3930473" cy="3930474"/>
            </a:xfrm>
            <a:prstGeom prst="blockArc">
              <a:avLst>
                <a:gd name="adj1" fmla="val 16200000"/>
                <a:gd name="adj2" fmla="val 18900000"/>
                <a:gd name="adj3" fmla="val 3430"/>
              </a:avLst>
            </a:prstGeom>
            <a:solidFill>
              <a:srgbClr val="F632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3128723" y="1600108"/>
              <a:ext cx="1993614" cy="1993614"/>
            </a:xfrm>
            <a:custGeom>
              <a:avLst/>
              <a:gdLst/>
              <a:ahLst/>
              <a:cxnLst/>
              <a:rect l="l" t="t" r="r" b="b"/>
              <a:pathLst>
                <a:path w="1993614" h="1993614" extrusionOk="0">
                  <a:moveTo>
                    <a:pt x="0" y="996807"/>
                  </a:moveTo>
                  <a:cubicBezTo>
                    <a:pt x="0" y="446286"/>
                    <a:pt x="446286" y="0"/>
                    <a:pt x="996807" y="0"/>
                  </a:cubicBezTo>
                  <a:cubicBezTo>
                    <a:pt x="1547328" y="0"/>
                    <a:pt x="1993614" y="446286"/>
                    <a:pt x="1993614" y="996807"/>
                  </a:cubicBezTo>
                  <a:cubicBezTo>
                    <a:pt x="1993614" y="1547328"/>
                    <a:pt x="1547328" y="1993614"/>
                    <a:pt x="996807" y="1993614"/>
                  </a:cubicBezTo>
                  <a:cubicBezTo>
                    <a:pt x="446286" y="1993614"/>
                    <a:pt x="0" y="1547328"/>
                    <a:pt x="0" y="996807"/>
                  </a:cubicBezTo>
                  <a:close/>
                </a:path>
              </a:pathLst>
            </a:custGeom>
            <a:noFill/>
            <a:ln w="50800" cap="flat" cmpd="sng">
              <a:solidFill>
                <a:srgbClr val="4C4C4C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8100000" algn="t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307175" tIns="307175" rIns="307175" bIns="3071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rgbClr val="4C4C4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3657379" y="19723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2"/>
            <p:cNvSpPr/>
            <p:nvPr/>
          </p:nvSpPr>
          <p:spPr>
            <a:xfrm>
              <a:off x="5023178" y="762966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CCCCCC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558891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5023177" y="3494562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9D9D9D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63775" tIns="163775" rIns="163775" bIns="1637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3657379" y="406029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F6323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2"/>
            <p:cNvSpPr/>
            <p:nvPr/>
          </p:nvSpPr>
          <p:spPr>
            <a:xfrm>
              <a:off x="2291582" y="34945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rgbClr val="A8A8A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1725851" y="2128764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1F1F2"/>
            </a:solidFill>
            <a:ln w="571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291581" y="762965"/>
              <a:ext cx="936302" cy="936302"/>
            </a:xfrm>
            <a:custGeom>
              <a:avLst/>
              <a:gdLst/>
              <a:ahLst/>
              <a:cxnLst/>
              <a:rect l="l" t="t" r="r" b="b"/>
              <a:pathLst>
                <a:path w="936302" h="936302" extrusionOk="0">
                  <a:moveTo>
                    <a:pt x="0" y="468151"/>
                  </a:moveTo>
                  <a:cubicBezTo>
                    <a:pt x="0" y="209598"/>
                    <a:pt x="209598" y="0"/>
                    <a:pt x="468151" y="0"/>
                  </a:cubicBezTo>
                  <a:cubicBezTo>
                    <a:pt x="726704" y="0"/>
                    <a:pt x="936302" y="209598"/>
                    <a:pt x="936302" y="468151"/>
                  </a:cubicBezTo>
                  <a:cubicBezTo>
                    <a:pt x="936302" y="726704"/>
                    <a:pt x="726704" y="936302"/>
                    <a:pt x="468151" y="936302"/>
                  </a:cubicBezTo>
                  <a:cubicBezTo>
                    <a:pt x="209598" y="936302"/>
                    <a:pt x="0" y="726704"/>
                    <a:pt x="0" y="468151"/>
                  </a:cubicBezTo>
                  <a:close/>
                </a:path>
              </a:pathLst>
            </a:custGeom>
            <a:solidFill>
              <a:srgbClr val="F7F7F7"/>
            </a:solidFill>
            <a:ln w="57150" cap="flat" cmpd="sng">
              <a:solidFill>
                <a:srgbClr val="989898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187900" tIns="187900" rIns="187900" bIns="1879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91" name="Google Shape;59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6518" y="157277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72122" y="3840710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85784" y="3229619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60129" y="2284117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71063" y="1518775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6880" y="2182634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41355" y="3145032"/>
            <a:ext cx="365816" cy="3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2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14639" y="3877794"/>
            <a:ext cx="365816" cy="36581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2"/>
          <p:cNvSpPr txBox="1">
            <a:spLocks noGrp="1"/>
          </p:cNvSpPr>
          <p:nvPr>
            <p:ph type="body" idx="28"/>
          </p:nvPr>
        </p:nvSpPr>
        <p:spPr>
          <a:xfrm>
            <a:off x="4052675" y="2723156"/>
            <a:ext cx="1182772" cy="38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989898"/>
              </a:buClr>
              <a:buSzPts val="1100"/>
              <a:buFont typeface="Arial"/>
              <a:buNone/>
              <a:defRPr sz="1100" b="1" i="0" u="none" strike="noStrike" cap="none">
                <a:solidFill>
                  <a:srgbClr val="98989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0" name="Google Shape;600;p32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02" name="Google Shape;602;p3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5" name="Google Shape;605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body" idx="1"/>
          </p:nvPr>
        </p:nvSpPr>
        <p:spPr>
          <a:xfrm>
            <a:off x="630238" y="1455738"/>
            <a:ext cx="2933700" cy="30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Arial"/>
              <a:buNone/>
              <a:defRPr sz="182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7" name="Google Shape;607;p33"/>
          <p:cNvSpPr>
            <a:spLocks noGrp="1"/>
          </p:cNvSpPr>
          <p:nvPr>
            <p:ph type="chart" idx="2"/>
          </p:nvPr>
        </p:nvSpPr>
        <p:spPr>
          <a:xfrm>
            <a:off x="3676650" y="1466850"/>
            <a:ext cx="48450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8" name="Google Shape;608;p33"/>
          <p:cNvSpPr/>
          <p:nvPr/>
        </p:nvSpPr>
        <p:spPr>
          <a:xfrm>
            <a:off x="0" y="0"/>
            <a:ext cx="9144000" cy="636862"/>
          </a:xfrm>
          <a:prstGeom prst="rect">
            <a:avLst/>
          </a:prstGeom>
          <a:solidFill>
            <a:srgbClr val="F533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3"/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10" name="Google Shape;61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">
          <p15:clr>
            <a:srgbClr val="FBAE40"/>
          </p15:clr>
        </p15:guide>
        <p15:guide id="2" pos="2245">
          <p15:clr>
            <a:srgbClr val="FBAE40"/>
          </p15:clr>
        </p15:guide>
        <p15:guide id="3" orient="horz" pos="917">
          <p15:clr>
            <a:srgbClr val="FBAE40"/>
          </p15:clr>
        </p15:guide>
        <p15:guide id="4" orient="horz" pos="2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30238" y="544498"/>
            <a:ext cx="6196824" cy="569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929762" y="209484"/>
            <a:ext cx="814046" cy="21721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398">
          <p15:clr>
            <a:srgbClr val="F26B43"/>
          </p15:clr>
        </p15:guide>
        <p15:guide id="2" orient="horz" pos="191">
          <p15:clr>
            <a:srgbClr val="F26B43"/>
          </p15:clr>
        </p15:guide>
        <p15:guide id="3" orient="horz" pos="344">
          <p15:clr>
            <a:srgbClr val="F26B43"/>
          </p15:clr>
        </p15:guide>
        <p15:guide id="4" pos="3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gentic-AI-for-Research-Applications-Structured-Paper-Reviews-and-Gap-Mining/blob/main/AGENTIF%20PAPER.pdf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yotidabass/Agentic-AI-for-Research-Applications-Structured-Paper-Reviews-and-Gap-Mining/blob/main/fieldwork%20arena%20paper.pdf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4"/>
          <p:cNvSpPr txBox="1"/>
          <p:nvPr/>
        </p:nvSpPr>
        <p:spPr>
          <a:xfrm>
            <a:off x="399914" y="2065926"/>
            <a:ext cx="8197077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4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LJMU MSDS/ML C30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endParaRPr lang="en-IN" sz="44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lvl="0" algn="ctr">
              <a:lnSpc>
                <a:spcPct val="90000"/>
              </a:lnSpc>
              <a:buClr>
                <a:schemeClr val="dk1"/>
              </a:buClr>
              <a:buSzPts val="4000"/>
            </a:pPr>
            <a:br>
              <a:rPr lang="en-US" sz="3200" b="1" dirty="0">
                <a:solidFill>
                  <a:schemeClr val="dk1"/>
                </a:solidFill>
                <a:latin typeface="Lato"/>
                <a:ea typeface="Lato"/>
                <a:cs typeface="Lato"/>
              </a:rPr>
            </a:br>
            <a:endParaRPr sz="3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698" b="7697"/>
          <a:stretch/>
        </p:blipFill>
        <p:spPr>
          <a:xfrm>
            <a:off x="0" y="-1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5"/>
          <p:cNvSpPr txBox="1">
            <a:spLocks noGrp="1"/>
          </p:cNvSpPr>
          <p:nvPr>
            <p:ph type="dt" idx="10"/>
          </p:nvPr>
        </p:nvSpPr>
        <p:spPr>
          <a:xfrm>
            <a:off x="6381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1400"/>
              <a:buFont typeface="Proxima Nova"/>
              <a:buNone/>
            </a:pPr>
            <a:r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23/05/19</a:t>
            </a:r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4" name="Google Shape;624;p35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72D3F"/>
              </a:buClr>
              <a:buSzPts val="900"/>
              <a:buFont typeface="Proxima Nova"/>
              <a:buNone/>
            </a:pPr>
            <a:fld id="{00000000-1234-1234-1234-123412341234}" type="slidenum">
              <a:rPr lang="en-IN" sz="900">
                <a:solidFill>
                  <a:srgbClr val="E72D3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solidFill>
                <a:srgbClr val="E72D3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25" name="Google Shape;62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575" y="0"/>
            <a:ext cx="3811975" cy="463452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5"/>
          <p:cNvSpPr txBox="1"/>
          <p:nvPr/>
        </p:nvSpPr>
        <p:spPr>
          <a:xfrm>
            <a:off x="420700" y="1063024"/>
            <a:ext cx="3573000" cy="116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SzPts val="1800"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Course: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MSDS/ML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Live Session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On:</a:t>
            </a:r>
            <a:r>
              <a:rPr lang="en-IN" sz="180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Agentic AI for Research Applications</a:t>
            </a:r>
            <a:endParaRPr sz="1800" b="1" i="0" u="none" strike="noStrike" cap="none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</a:t>
            </a:r>
            <a:r>
              <a:rPr lang="en-IN" sz="18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Instructor:</a:t>
            </a:r>
            <a:r>
              <a:rPr lang="en-IN" sz="1800" i="0" u="none" strike="noStrike" cap="none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IN" sz="18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Dr. Jyoti Dabass</a:t>
            </a:r>
            <a:endParaRPr sz="1800" b="1" i="0" u="none" strike="noStrike" cap="none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7" name="Google Shape;6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29288" y="210064"/>
            <a:ext cx="813630" cy="21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/>
          <p:cNvSpPr txBox="1"/>
          <p:nvPr/>
        </p:nvSpPr>
        <p:spPr>
          <a:xfrm>
            <a:off x="638175" y="548771"/>
            <a:ext cx="443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/>
          <p:cNvSpPr txBox="1"/>
          <p:nvPr/>
        </p:nvSpPr>
        <p:spPr>
          <a:xfrm>
            <a:off x="735076" y="1276152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Welcome Everyone 👋</a:t>
            </a:r>
            <a:b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Today’s session is practical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Learn to read &amp; critique agentic AI papers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Identify gaps and generate research ideas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Move from “using AI” → “researching AI”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/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B60EEF1E-C2C6-7566-957A-C6CE85207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D06C18D-C078-EAD4-2CC4-9BBCA649A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815B2D22-498C-8ECD-F614-ECC1302E62B5}"/>
              </a:ext>
            </a:extLst>
          </p:cNvPr>
          <p:cNvSpPr txBox="1"/>
          <p:nvPr/>
        </p:nvSpPr>
        <p:spPr>
          <a:xfrm>
            <a:off x="638175" y="548771"/>
            <a:ext cx="5631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Why are we doing this session?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9139D8EB-BABF-F12D-55AF-49CD78EF9516}"/>
              </a:ext>
            </a:extLst>
          </p:cNvPr>
          <p:cNvSpPr txBox="1"/>
          <p:nvPr/>
        </p:nvSpPr>
        <p:spPr>
          <a:xfrm>
            <a:off x="735076" y="1276152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Agentic AI is evolving fast:</a:t>
            </a:r>
          </a:p>
          <a:p>
            <a:pPr lvl="0"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Models now plan, use tools, and act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Research paper volume is exploding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Quality varies widely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We need structured evaluation skills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93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D3552BC-9A43-774E-73DC-326A5AE89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023DDFF6-E889-F03F-AB98-59958D7452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0F425681-09B9-8A64-4D7B-781AE9104F6C}"/>
              </a:ext>
            </a:extLst>
          </p:cNvPr>
          <p:cNvSpPr txBox="1"/>
          <p:nvPr/>
        </p:nvSpPr>
        <p:spPr>
          <a:xfrm>
            <a:off x="638175" y="548771"/>
            <a:ext cx="5829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What You Will Learn Today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A2C2D95C-D9DD-42A0-5A10-1A62CC239B89}"/>
              </a:ext>
            </a:extLst>
          </p:cNvPr>
          <p:cNvSpPr txBox="1"/>
          <p:nvPr/>
        </p:nvSpPr>
        <p:spPr>
          <a:xfrm>
            <a:off x="638175" y="1137359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By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the end of this session, you can:</a:t>
            </a:r>
          </a:p>
          <a:p>
            <a:pPr lvl="0"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Understand key agentic AI patterns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Use a structured review rubric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Compare success, cost, robustness, and safety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Identify research gaps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Propose follow-up experiments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6DDD5DFC-6B66-9690-E5B1-DE9596B12828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5703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E7908E57-6ED2-A5CB-5287-8B46D60D9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EAD823BE-6325-993E-D553-455CAD361F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3203CF64-71E9-E176-0E97-3089C5F1A79A}"/>
              </a:ext>
            </a:extLst>
          </p:cNvPr>
          <p:cNvSpPr txBox="1"/>
          <p:nvPr/>
        </p:nvSpPr>
        <p:spPr>
          <a:xfrm>
            <a:off x="638175" y="548771"/>
            <a:ext cx="6579054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How Today’s Session Works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C747A0C5-AA3A-1C15-7C66-F181FEEEE269}"/>
              </a:ext>
            </a:extLst>
          </p:cNvPr>
          <p:cNvSpPr txBox="1"/>
          <p:nvPr/>
        </p:nvSpPr>
        <p:spPr>
          <a:xfrm>
            <a:off x="735076" y="1145523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US" sz="1800" b="1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Format: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</a:t>
            </a: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Short explanations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Live critique of two papers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Group review activities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Gap mining</a:t>
            </a:r>
            <a:b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US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•      Clear takeaways</a:t>
            </a:r>
          </a:p>
          <a:p>
            <a:pPr lvl="0">
              <a:lnSpc>
                <a:spcPct val="200000"/>
              </a:lnSpc>
            </a:pP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F1FD3229-A8C6-9F90-20C8-397837D1B9AE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3229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>
          <a:extLst>
            <a:ext uri="{FF2B5EF4-FFF2-40B4-BE49-F238E27FC236}">
              <a16:creationId xmlns:a16="http://schemas.microsoft.com/office/drawing/2014/main" id="{2124C992-49BD-B7F0-37C0-6F6E9D88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6">
            <a:extLst>
              <a:ext uri="{FF2B5EF4-FFF2-40B4-BE49-F238E27FC236}">
                <a16:creationId xmlns:a16="http://schemas.microsoft.com/office/drawing/2014/main" id="{DF23ABF5-429A-F336-DB84-A64038B014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34" name="Google Shape;634;p36">
            <a:extLst>
              <a:ext uri="{FF2B5EF4-FFF2-40B4-BE49-F238E27FC236}">
                <a16:creationId xmlns:a16="http://schemas.microsoft.com/office/drawing/2014/main" id="{CA86581A-6A41-1C80-CFE3-0C60ABC01A40}"/>
              </a:ext>
            </a:extLst>
          </p:cNvPr>
          <p:cNvSpPr txBox="1"/>
          <p:nvPr/>
        </p:nvSpPr>
        <p:spPr>
          <a:xfrm>
            <a:off x="621846" y="328336"/>
            <a:ext cx="4432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Agenda Overview</a:t>
            </a:r>
            <a:endParaRPr sz="2800" b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36">
            <a:extLst>
              <a:ext uri="{FF2B5EF4-FFF2-40B4-BE49-F238E27FC236}">
                <a16:creationId xmlns:a16="http://schemas.microsoft.com/office/drawing/2014/main" id="{72EF589B-112A-02C7-E41A-52BDDAF7F8BC}"/>
              </a:ext>
            </a:extLst>
          </p:cNvPr>
          <p:cNvSpPr txBox="1"/>
          <p:nvPr/>
        </p:nvSpPr>
        <p:spPr>
          <a:xfrm>
            <a:off x="793296" y="405286"/>
            <a:ext cx="617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endParaRPr lang="en-US" sz="1800" b="1" i="1" dirty="0">
              <a:solidFill>
                <a:schemeClr val="lt1"/>
              </a:solidFill>
              <a:latin typeface="Lato"/>
              <a:ea typeface="Lato"/>
              <a:cs typeface="Lato"/>
            </a:endParaRPr>
          </a:p>
          <a:p>
            <a:pPr lvl="0">
              <a:lnSpc>
                <a:spcPct val="200000"/>
              </a:lnSpc>
            </a:pP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I.     Warm-up &amp; Context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II.     Agentic AI Landscape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III.     Review Rubric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IV.     Group Review 1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V.      Group Review 2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VI.     Gap Mining</a:t>
            </a:r>
            <a:b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</a:br>
            <a:r>
              <a:rPr lang="en-IN" sz="1800" i="1" dirty="0">
                <a:solidFill>
                  <a:schemeClr val="lt1"/>
                </a:solidFill>
                <a:latin typeface="Lato"/>
                <a:ea typeface="Lato"/>
                <a:cs typeface="Lato"/>
              </a:rPr>
              <a:t>VII.     Wrap-Up</a:t>
            </a:r>
            <a:endParaRPr sz="1800" i="1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0" name="Google Shape;640;p36">
            <a:extLst>
              <a:ext uri="{FF2B5EF4-FFF2-40B4-BE49-F238E27FC236}">
                <a16:creationId xmlns:a16="http://schemas.microsoft.com/office/drawing/2014/main" id="{1D45D222-20F2-7C79-EFC6-95AF3B7ACB12}"/>
              </a:ext>
            </a:extLst>
          </p:cNvPr>
          <p:cNvSpPr txBox="1"/>
          <p:nvPr/>
        </p:nvSpPr>
        <p:spPr>
          <a:xfrm>
            <a:off x="1143437" y="2759684"/>
            <a:ext cx="427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522542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D4A1785-0D9B-4F52-37D7-BAE1B7E2B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672E9C4-25CF-1B7D-B2BB-118EAE825E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4" y="1382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Before We Begin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490C71F-5E92-89B0-7A80-F9B157DBCF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35D609-F2B9-342D-2138-6E98C3A52939}"/>
              </a:ext>
            </a:extLst>
          </p:cNvPr>
          <p:cNvSpPr txBox="1"/>
          <p:nvPr/>
        </p:nvSpPr>
        <p:spPr>
          <a:xfrm>
            <a:off x="623703" y="981182"/>
            <a:ext cx="6209803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need a shared foundation. We will quickly cover: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LLMs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Prompting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RAG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Tool Calling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89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7AE5797-B136-ABDB-254F-F5146EBB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73E789B-FF67-F49A-1396-FA786DA38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Prerequisites Overview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F9C686-4232-DDA0-3406-31267AC04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F04671-A477-DABF-F606-4329710E88BE}"/>
              </a:ext>
            </a:extLst>
          </p:cNvPr>
          <p:cNvSpPr txBox="1"/>
          <p:nvPr/>
        </p:nvSpPr>
        <p:spPr>
          <a:xfrm>
            <a:off x="623703" y="1023588"/>
            <a:ext cx="4572000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Four concepts power modern AI agents: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LLMs → foundation model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Prompting → instruction layer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RAG → retrieval + grounding</a:t>
            </a:r>
            <a:b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Tool Calling → action-taking ability</a:t>
            </a:r>
          </a:p>
        </p:txBody>
      </p:sp>
    </p:spTree>
    <p:extLst>
      <p:ext uri="{BB962C8B-B14F-4D97-AF65-F5344CB8AC3E}">
        <p14:creationId xmlns:p14="http://schemas.microsoft.com/office/powerpoint/2010/main" val="853384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E64E3AA-BD35-44B6-084D-987DBD40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E498AAF-EDCD-D30F-CB8E-18AF56AE0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an LLM?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4643FB4-6577-264B-6CC6-022A1A1B2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C7451-0928-A1C1-34FF-6A54C98A45EA}"/>
              </a:ext>
            </a:extLst>
          </p:cNvPr>
          <p:cNvSpPr txBox="1"/>
          <p:nvPr/>
        </p:nvSpPr>
        <p:spPr>
          <a:xfrm>
            <a:off x="599209" y="793402"/>
            <a:ext cx="6683333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Large Language Model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Trained on massive text datasets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Predicts next word using patterns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Built on transformer architecture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Uses attention to track relationships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Supports reasoning, planning, summarizing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33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CB9A02D-5708-6CBC-33C7-C7BA69B8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99087CB-7327-8C86-0205-D62AC3B97A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in Simple Technical Terms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13B8571-D128-3941-77E9-E7F3525603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6926B-D4CD-37AE-2096-10A1D3818423}"/>
              </a:ext>
            </a:extLst>
          </p:cNvPr>
          <p:cNvSpPr txBox="1"/>
          <p:nvPr/>
        </p:nvSpPr>
        <p:spPr>
          <a:xfrm>
            <a:off x="449035" y="1028462"/>
            <a:ext cx="7764235" cy="2177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Simplest accurate meaning: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“An LLM is a pattern-based model that generates text using statistical knowledge learned from huge datasets.”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a database.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a search engine.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 text generator with learned structure.</a:t>
            </a:r>
          </a:p>
        </p:txBody>
      </p:sp>
    </p:spTree>
    <p:extLst>
      <p:ext uri="{BB962C8B-B14F-4D97-AF65-F5344CB8AC3E}">
        <p14:creationId xmlns:p14="http://schemas.microsoft.com/office/powerpoint/2010/main" val="1241320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F52B55F-D4C3-1AB3-AFEA-BD7B9BD21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B262213-9BA9-2CF2-FA62-EC3141A442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Prompting?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E9CEA0E-B7D2-DFC1-751F-15210D2657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DCDF2-DF3C-6635-4A91-E487D4D8A62A}"/>
              </a:ext>
            </a:extLst>
          </p:cNvPr>
          <p:cNvSpPr txBox="1"/>
          <p:nvPr/>
        </p:nvSpPr>
        <p:spPr>
          <a:xfrm>
            <a:off x="538843" y="889669"/>
            <a:ext cx="6221186" cy="296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Prompting = giving clear instructions. Good prompts define: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Task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Context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Output format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Steps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Constraints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028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A148806-7AD2-13A7-D1E2-4A99216F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9B6052C-840F-69A8-5C1E-ADEB07237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Types of Prompts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BF0C16E-5A9B-8C37-B68A-5B706B731E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34755-0FBE-2625-AA21-B8E9A7C42CF1}"/>
              </a:ext>
            </a:extLst>
          </p:cNvPr>
          <p:cNvSpPr txBox="1"/>
          <p:nvPr/>
        </p:nvSpPr>
        <p:spPr>
          <a:xfrm>
            <a:off x="623703" y="917453"/>
            <a:ext cx="6324104" cy="2475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•     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Role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Few-shot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Step-by-step prompts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Structured prompts (tables, JSON)</a:t>
            </a: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Prompting  =   control mechanism for the model.</a:t>
            </a:r>
          </a:p>
        </p:txBody>
      </p:sp>
    </p:spTree>
    <p:extLst>
      <p:ext uri="{BB962C8B-B14F-4D97-AF65-F5344CB8AC3E}">
        <p14:creationId xmlns:p14="http://schemas.microsoft.com/office/powerpoint/2010/main" val="305481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786FFCA-AE4D-D8C1-0718-3731426B7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9194F0B4-B69D-7C4C-7CD3-47C3150A89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RAG?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4720C15C-BAFD-3BC5-7BF2-18599F9600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B9DCE4-D955-558C-5E96-87E554640659}"/>
              </a:ext>
            </a:extLst>
          </p:cNvPr>
          <p:cNvSpPr txBox="1"/>
          <p:nvPr/>
        </p:nvSpPr>
        <p:spPr>
          <a:xfrm>
            <a:off x="324843" y="744417"/>
            <a:ext cx="4572000" cy="260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Retrieval-Augmented Generation: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Retrieves relevant documents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Adds them to the prompt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LLM generates grounded output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Reduces hallucination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Improves accuracy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092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04B4442A-F991-EB75-4D9A-6E2C1370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A761B1D-FEA7-53B8-8A66-8D7255C187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RAG Works?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651AE53-1CAA-9131-F4DB-99CCBA96A9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38702-B80D-E94B-8842-0028FC1BF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113" y="908249"/>
            <a:ext cx="5323115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Break documents into chunks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Convert chunks into embeddings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Store them in vector DB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Search based on similarity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Add top results into prompt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LLM produces final answer</a:t>
            </a:r>
          </a:p>
        </p:txBody>
      </p:sp>
    </p:spTree>
    <p:extLst>
      <p:ext uri="{BB962C8B-B14F-4D97-AF65-F5344CB8AC3E}">
        <p14:creationId xmlns:p14="http://schemas.microsoft.com/office/powerpoint/2010/main" val="3461395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E8C3D06-F6F8-1163-4A1A-B0CBF015C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E230998-85D4-889E-DBFE-794B19F9F9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RAG Matters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96DB301-C6C8-E86A-60F3-E310879A63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E0A15-C79B-50D9-6025-6721CFFAEF44}"/>
              </a:ext>
            </a:extLst>
          </p:cNvPr>
          <p:cNvSpPr txBox="1"/>
          <p:nvPr/>
        </p:nvSpPr>
        <p:spPr>
          <a:xfrm>
            <a:off x="498022" y="798445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Useful for: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manuals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policies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reports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FAQs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institutional knowledge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Ensures answers are based on real data.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88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ABF80E3-077F-76AA-1FDE-23FCF0548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E39D66DA-4FFD-B1DE-6CCD-934F82978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Tool Calling?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E2521C2-8A68-178F-56A8-0C1217D481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84CE0-EF94-6CC5-2EED-3D2C6C7BC9F9}"/>
              </a:ext>
            </a:extLst>
          </p:cNvPr>
          <p:cNvSpPr txBox="1"/>
          <p:nvPr/>
        </p:nvSpPr>
        <p:spPr>
          <a:xfrm>
            <a:off x="623703" y="814771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 + Tools = Agent. Tools allow the model to: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call APIs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query databases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calculate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read files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process images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run workflows</a:t>
            </a:r>
            <a:endParaRPr lang="en-IN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19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C9B15A2-5E15-D4A9-C2EC-34A4604F9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349F9C9D-A0C6-7334-321B-58A037CEF2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Tool Calling Works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72476C2-5E90-BED6-48CD-D1BA56E4E9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7322A-AE47-F11D-3560-41EA0C910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65" y="834771"/>
            <a:ext cx="3773790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User gives instruction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LLM decides a tool is needed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LLM outputs JSON tool call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System runs the tool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Tool returns result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LLM completes the response</a:t>
            </a:r>
          </a:p>
        </p:txBody>
      </p:sp>
    </p:spTree>
    <p:extLst>
      <p:ext uri="{BB962C8B-B14F-4D97-AF65-F5344CB8AC3E}">
        <p14:creationId xmlns:p14="http://schemas.microsoft.com/office/powerpoint/2010/main" val="3255762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DE7FE59-8A96-49B0-ED75-63260B8F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DEDE3C81-3407-ED43-B097-A5F1E37A3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Tool Calling is Important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1DF2A00-1788-5407-43F7-5CA709D362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9F91E-A226-5BD3-4CD7-8222EE7C1C63}"/>
              </a:ext>
            </a:extLst>
          </p:cNvPr>
          <p:cNvSpPr txBox="1"/>
          <p:nvPr/>
        </p:nvSpPr>
        <p:spPr>
          <a:xfrm>
            <a:off x="563336" y="824474"/>
            <a:ext cx="4572000" cy="30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Enables: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accurate actions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automation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real-world integration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multi-step workflows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reliable enterprise systems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transforms an LLM into an agent.</a:t>
            </a:r>
          </a:p>
        </p:txBody>
      </p:sp>
    </p:spTree>
    <p:extLst>
      <p:ext uri="{BB962C8B-B14F-4D97-AF65-F5344CB8AC3E}">
        <p14:creationId xmlns:p14="http://schemas.microsoft.com/office/powerpoint/2010/main" val="505796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BCA8977-4E2F-CEB0-F628-BF768672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E30C0B3-6A36-FD60-190F-731EC1876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252595"/>
            <a:ext cx="5169721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Prerequisite Summary</a:t>
            </a:r>
            <a:br>
              <a:rPr lang="en-IN" b="1" dirty="0"/>
            </a:br>
            <a:endParaRPr dirty="0"/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82D615D3-D9ED-F5C3-A751-B1DE94FF13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BFC0A-4024-2F65-2CF9-40482F2C9330}"/>
              </a:ext>
            </a:extLst>
          </p:cNvPr>
          <p:cNvSpPr txBox="1"/>
          <p:nvPr/>
        </p:nvSpPr>
        <p:spPr>
          <a:xfrm>
            <a:off x="465364" y="932195"/>
            <a:ext cx="5029200" cy="296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Now you understand: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LLM → engine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Prompting → control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RAG → grounded knowledge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Tools → action layer</a:t>
            </a: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can move into the main session.</a:t>
            </a:r>
          </a:p>
        </p:txBody>
      </p:sp>
    </p:spTree>
    <p:extLst>
      <p:ext uri="{BB962C8B-B14F-4D97-AF65-F5344CB8AC3E}">
        <p14:creationId xmlns:p14="http://schemas.microsoft.com/office/powerpoint/2010/main" val="88908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126859F4-EB30-89E5-6AE1-779A010D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885BCF0-3D1A-09FF-A92D-1C3B19F6EB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4843" y="130629"/>
            <a:ext cx="5169721" cy="66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Poll 1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</a:b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970F84D5-AC4A-9230-E062-00F22BF84E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2978AE-8718-B77A-D1FF-4DAD6063CBDE}"/>
              </a:ext>
            </a:extLst>
          </p:cNvPr>
          <p:cNvSpPr txBox="1"/>
          <p:nvPr/>
        </p:nvSpPr>
        <p:spPr>
          <a:xfrm>
            <a:off x="406350" y="798446"/>
            <a:ext cx="7884658" cy="26081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“Which of the following statements is MOST accurate about how an LLM works?”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An LLM is a database that stores facts and retrieves them when asked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An LLM predicts the next most likely word using patterns learned from large text datasets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An LLM is a search engine that always looks up answers online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An LLM executes code directly to produce answers</a:t>
            </a:r>
          </a:p>
        </p:txBody>
      </p:sp>
    </p:spTree>
    <p:extLst>
      <p:ext uri="{BB962C8B-B14F-4D97-AF65-F5344CB8AC3E}">
        <p14:creationId xmlns:p14="http://schemas.microsoft.com/office/powerpoint/2010/main" val="1014955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ED91C-B956-C43D-A72F-EC924D3D58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FE8F22-B6AB-73DA-CDE6-FB979CA31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14" y="311903"/>
            <a:ext cx="3735903" cy="382564"/>
          </a:xfrm>
        </p:spPr>
        <p:txBody>
          <a:bodyPr/>
          <a:lstStyle/>
          <a:p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Poll 1(Answer)</a:t>
            </a:r>
            <a:b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IN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00C6D-2239-9ED9-FEE5-C2C975B3FA9F}"/>
              </a:ext>
            </a:extLst>
          </p:cNvPr>
          <p:cNvSpPr txBox="1"/>
          <p:nvPr/>
        </p:nvSpPr>
        <p:spPr>
          <a:xfrm>
            <a:off x="473528" y="909523"/>
            <a:ext cx="7884658" cy="31621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“Which of the following statements is MOST accurate about how an LLM works?”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An LLM is a database that stores facts and retrieves them when asked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An LLM predicts the next most likely word using patterns learned from large text datasets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An LLM is a search engine that always looks up answers online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An LLM executes code directly to produce answers</a:t>
            </a:r>
          </a:p>
        </p:txBody>
      </p:sp>
    </p:spTree>
    <p:extLst>
      <p:ext uri="{BB962C8B-B14F-4D97-AF65-F5344CB8AC3E}">
        <p14:creationId xmlns:p14="http://schemas.microsoft.com/office/powerpoint/2010/main" val="1634174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AC89C58C-A7C5-93B1-0302-FF705147C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066A022-4998-83C4-CB8D-8D03852103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E82F50AB-5013-F2EE-AF4F-D0EE856F9904}"/>
              </a:ext>
            </a:extLst>
          </p:cNvPr>
          <p:cNvSpPr txBox="1"/>
          <p:nvPr/>
        </p:nvSpPr>
        <p:spPr>
          <a:xfrm>
            <a:off x="734785" y="548594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Warm-Up —</a:t>
            </a:r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Here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C25E0CF0-29A3-EB3A-23BC-E052DF89F9E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C87911F6-8AAF-7790-13A9-43EB8EA2931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4A5E6F35-E458-7090-7105-AB00512B5735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E791E7-1184-AF86-62C9-615A23DD2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702" y="1300047"/>
            <a:ext cx="3967753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Learn to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judge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agentic AI papers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Build a researcher mindset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Not just understand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94845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FDD51F7A-1DA5-5BA6-8333-A089C9399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1D76F313-ED5D-7C96-E837-EA8BFBD8186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597E397D-2DE3-0B4B-F100-14960989B270}"/>
              </a:ext>
            </a:extLst>
          </p:cNvPr>
          <p:cNvSpPr txBox="1"/>
          <p:nvPr/>
        </p:nvSpPr>
        <p:spPr>
          <a:xfrm>
            <a:off x="652296" y="573514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Where Agents Fail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?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49C873B3-9DDA-8E6A-214F-82F8BF740304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14B17E-94E1-EC33-B380-E30E85B02C4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F136F10-8091-4ADB-1C69-842348EA223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8FE03C-F1E6-33AA-9F47-54BC8CEA4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013" y="1147253"/>
            <a:ext cx="3677610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Don’t follow long instructions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Forget steps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Take wrong actions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Misuse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Lose context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Break in long workflows</a:t>
            </a:r>
          </a:p>
        </p:txBody>
      </p:sp>
    </p:spTree>
    <p:extLst>
      <p:ext uri="{BB962C8B-B14F-4D97-AF65-F5344CB8AC3E}">
        <p14:creationId xmlns:p14="http://schemas.microsoft.com/office/powerpoint/2010/main" val="3966977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B847FB8A-8625-591B-5D98-F69E5CE5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B25CB043-1082-EF4E-6478-D419E6B33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276B8021-6C39-C8E1-D899-98F37D1E0F92}"/>
              </a:ext>
            </a:extLst>
          </p:cNvPr>
          <p:cNvSpPr txBox="1"/>
          <p:nvPr/>
        </p:nvSpPr>
        <p:spPr>
          <a:xfrm>
            <a:off x="638175" y="654907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an Agent Is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D7D6899-B20D-EAB3-E317-D2A32B8633D9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BD680E0-4AD0-2A03-6BCF-76EB0B0ABACE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E749355-965C-0F66-D39F-658317C2DEAE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683EFA-7D9D-776F-3079-F93F75123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1185248"/>
            <a:ext cx="478368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LLM brain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Memory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Loop: Observe → Think → Act → Repeat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Evaluation</a:t>
            </a:r>
          </a:p>
        </p:txBody>
      </p:sp>
    </p:spTree>
    <p:extLst>
      <p:ext uri="{BB962C8B-B14F-4D97-AF65-F5344CB8AC3E}">
        <p14:creationId xmlns:p14="http://schemas.microsoft.com/office/powerpoint/2010/main" val="740821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9AE1181D-8F38-2A4F-028D-091E04720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5D2C91CF-590B-2D5B-6372-A2BA61815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0C66DB19-7EC9-AA95-814D-A505FED76A0F}"/>
              </a:ext>
            </a:extLst>
          </p:cNvPr>
          <p:cNvSpPr txBox="1"/>
          <p:nvPr/>
        </p:nvSpPr>
        <p:spPr>
          <a:xfrm>
            <a:off x="652296" y="437095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Researchers Read Paper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DB4E167C-E240-9F82-D9A4-55A23F79ED3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9A1EB622-DE9A-0C02-97BA-173DAD7E53B1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8882BDF7-A118-AEC9-514E-2230AB1E45DF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72761C-9786-6726-02D4-4005B6FE6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42" y="1073944"/>
            <a:ext cx="360226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Inspect, don’t admire. Check: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Problem clarity, Loop design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Memory use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Metrics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Failures, Gaps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556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8019C84-C110-F14B-D42F-BB63959C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B950C4A-1F5F-2658-A6A7-EC3337A65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F96004CA-26B0-688D-32B1-6ADD735C80F7}"/>
              </a:ext>
            </a:extLst>
          </p:cNvPr>
          <p:cNvSpPr txBox="1"/>
          <p:nvPr/>
        </p:nvSpPr>
        <p:spPr>
          <a:xfrm>
            <a:off x="652296" y="517355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to Look For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F3B99AC1-A147-4833-CA39-E810B578DA5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3800B4D7-247C-9B34-5A9D-1E2872D79CFF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2B704A80-341E-5CA5-C942-5DB4AC483D2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73B98-8A86-C7AC-B023-BAA159D06713}"/>
              </a:ext>
            </a:extLst>
          </p:cNvPr>
          <p:cNvSpPr txBox="1"/>
          <p:nvPr/>
        </p:nvSpPr>
        <p:spPr>
          <a:xfrm>
            <a:off x="787115" y="1040575"/>
            <a:ext cx="4572000" cy="346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LLM policy, Loop quality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Tool access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Success measures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Baseline fairness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Claims vs evidence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Failure cases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Research gaps</a:t>
            </a:r>
          </a:p>
        </p:txBody>
      </p:sp>
    </p:spTree>
    <p:extLst>
      <p:ext uri="{BB962C8B-B14F-4D97-AF65-F5344CB8AC3E}">
        <p14:creationId xmlns:p14="http://schemas.microsoft.com/office/powerpoint/2010/main" val="37773002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CACA7368-FA2F-DD12-7C86-E0E0EE91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CF416DDF-722C-FD58-3664-A58453A44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D2FC406B-C848-8ED7-D055-39662D5E6709}"/>
              </a:ext>
            </a:extLst>
          </p:cNvPr>
          <p:cNvSpPr txBox="1"/>
          <p:nvPr/>
        </p:nvSpPr>
        <p:spPr>
          <a:xfrm>
            <a:off x="638175" y="654907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Warm-Up Matters</a:t>
            </a:r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19F9296-A0CB-1E5F-708D-9DD248B28EC1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4CADE8D-E375-27D5-2877-E3052E769585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5F57A27-35B9-D553-92C0-D4BD7B0A64C8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00FAB-EE05-5170-D8DE-B60D9A429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593" y="1249348"/>
            <a:ext cx="3366627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Makes papers easy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Reveals strengths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Exposes missing parts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Generates research ideas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Builds deep understanding</a:t>
            </a:r>
          </a:p>
        </p:txBody>
      </p:sp>
    </p:spTree>
    <p:extLst>
      <p:ext uri="{BB962C8B-B14F-4D97-AF65-F5344CB8AC3E}">
        <p14:creationId xmlns:p14="http://schemas.microsoft.com/office/powerpoint/2010/main" val="2787106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27FDE1-C053-F545-D0D8-2A34F2E7F8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29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384321C4-44B4-9FAE-6C26-1192DEB39E3E}"/>
              </a:ext>
            </a:extLst>
          </p:cNvPr>
          <p:cNvSpPr txBox="1"/>
          <p:nvPr/>
        </p:nvSpPr>
        <p:spPr>
          <a:xfrm>
            <a:off x="452757" y="219560"/>
            <a:ext cx="5493203" cy="10263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2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002BC1-8686-5E11-AFE6-5B17F2915C2C}"/>
              </a:ext>
            </a:extLst>
          </p:cNvPr>
          <p:cNvSpPr txBox="1"/>
          <p:nvPr/>
        </p:nvSpPr>
        <p:spPr>
          <a:xfrm>
            <a:off x="452757" y="1422271"/>
            <a:ext cx="7884658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reason we need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normal LLMs?”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Because LLMs already solve all tasks perfectly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Because agents can take actions using tools and follow multi-step workflows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Because agents store more data than LLMs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Because agents are only used for coding tasks</a:t>
            </a:r>
          </a:p>
          <a:p>
            <a:pPr>
              <a:lnSpc>
                <a:spcPct val="200000"/>
              </a:lnSpc>
              <a:buNone/>
            </a:pP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665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A5AEFE-240B-FF60-EC1E-A2E6CEB93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30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5B4BE00C-B112-FE27-B17E-CB40A4494C91}"/>
              </a:ext>
            </a:extLst>
          </p:cNvPr>
          <p:cNvSpPr txBox="1"/>
          <p:nvPr/>
        </p:nvSpPr>
        <p:spPr>
          <a:xfrm>
            <a:off x="507546" y="162456"/>
            <a:ext cx="5493203" cy="646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2 Answer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4784F-7366-343B-92E4-35BD4939FE63}"/>
              </a:ext>
            </a:extLst>
          </p:cNvPr>
          <p:cNvSpPr txBox="1"/>
          <p:nvPr/>
        </p:nvSpPr>
        <p:spPr>
          <a:xfrm>
            <a:off x="460771" y="937290"/>
            <a:ext cx="7884658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reason we need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normal LLMs?”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Because LLMs already solve all tasks perfectly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</a:t>
            </a: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agents can take actions using tools and follow multi-step workflows</a:t>
            </a:r>
            <a:b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Because agents store more data than LLMs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Because agents are only used for coding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C770C-4A36-EF2B-8D3C-2A9458200063}"/>
              </a:ext>
            </a:extLst>
          </p:cNvPr>
          <p:cNvSpPr txBox="1"/>
          <p:nvPr/>
        </p:nvSpPr>
        <p:spPr>
          <a:xfrm>
            <a:off x="460772" y="3735752"/>
            <a:ext cx="7884658" cy="52322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correct answer is Option B — because agents can actually take actions, use tools, follow steps, and handle real work. LLMs alone cannot do that.”</a:t>
            </a:r>
          </a:p>
        </p:txBody>
      </p:sp>
    </p:spTree>
    <p:extLst>
      <p:ext uri="{BB962C8B-B14F-4D97-AF65-F5344CB8AC3E}">
        <p14:creationId xmlns:p14="http://schemas.microsoft.com/office/powerpoint/2010/main" val="425005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/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638175" y="555878"/>
            <a:ext cx="795065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Agentic AI Became a Big Research Topic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/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A97A7D-04DB-A36B-6A4B-E295DB8C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5" y="1284437"/>
            <a:ext cx="8116324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LLMs = good at text. Real-world needs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Companies want AI that can: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use tools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 workflows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read rules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check safety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complete long tasks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shift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Agentic AI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25EE70C6-DAC7-7C16-35E9-16EF21FA1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4138772E-EAB0-4F91-609B-977FB96462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EC0F5DC0-768B-8F23-1EC4-61508BE894D8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416E9D7-B99A-73BB-DF51-F58AFFAE0EA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965F24D8-C4DC-739A-7253-1B2D06922C8D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41D7D406-B90D-F3D2-7C52-7FA92583BA98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32A7A-31B3-94E7-B4DB-C5A2F9C5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59" y="570134"/>
            <a:ext cx="4465864" cy="3461955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97EA00-A351-6057-5AB9-E357C5F61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543" y="828217"/>
            <a:ext cx="3779934" cy="3086100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42683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DFBD7794-4C09-4849-E172-9C0D2CBE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9921C7CE-C33B-1A0D-602B-ECB9D84B0C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EC576F92-BEDD-DBC3-B68B-06BB160C2D2B}"/>
              </a:ext>
            </a:extLst>
          </p:cNvPr>
          <p:cNvSpPr txBox="1"/>
          <p:nvPr/>
        </p:nvSpPr>
        <p:spPr>
          <a:xfrm>
            <a:off x="638174" y="654907"/>
            <a:ext cx="697868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Agentic Research Aims to Prove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CAF034D-A5AF-7F13-A471-45D3AF8D661C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63E693B1-6BA7-0D08-C22E-9466B1255D6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394A9A79-AB07-90CA-3DB1-CD68EC3D9B17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C00A6DB4-5742-90CD-DDA0-F91B7B65F3F8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101874-DDF0-F13B-EA2D-C20436B9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639" y="1315182"/>
            <a:ext cx="6413935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Capability Lift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Can agents do harder tasks than LLMs?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it work across unseen tasks?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Robustness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performance stay stable?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Safety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Does the agent avoid harmful or illegal actions?</a:t>
            </a:r>
          </a:p>
        </p:txBody>
      </p:sp>
    </p:spTree>
    <p:extLst>
      <p:ext uri="{BB962C8B-B14F-4D97-AF65-F5344CB8AC3E}">
        <p14:creationId xmlns:p14="http://schemas.microsoft.com/office/powerpoint/2010/main" val="2018592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8B4DEAE9-B985-C2F7-0700-E09444B3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3641BE69-217D-28DA-86CD-B4F50F538B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9098A1F5-D5D0-3E48-27B5-729E364B8450}"/>
              </a:ext>
            </a:extLst>
          </p:cNvPr>
          <p:cNvSpPr txBox="1"/>
          <p:nvPr/>
        </p:nvSpPr>
        <p:spPr>
          <a:xfrm>
            <a:off x="638175" y="654907"/>
            <a:ext cx="62524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l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Typical Failure Modes in Agents</a:t>
            </a:r>
            <a:endParaRPr sz="2800" b="1" dirty="0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1F159358-97F8-23C5-EFB9-17BCA0361A2E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1E5E9555-1A28-E1B2-E6CB-7B037805D079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13DE5C37-B175-AA30-DDE4-124F83070A32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8121D4B5-D9C4-2E44-B563-4E9E4135047A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939725-CDA6-343C-BEAC-6A96D2DC6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6" y="1462247"/>
            <a:ext cx="7375737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Compounding Errors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one mistake grows across steps.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Memory Drift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The agent forgets earlier instructions.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Tool Unreliability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tools return incomplete/incorrect outputs.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Hallucinated Actions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agent invents steps that never happened.</a:t>
            </a:r>
          </a:p>
        </p:txBody>
      </p:sp>
    </p:spTree>
    <p:extLst>
      <p:ext uri="{BB962C8B-B14F-4D97-AF65-F5344CB8AC3E}">
        <p14:creationId xmlns:p14="http://schemas.microsoft.com/office/powerpoint/2010/main" val="3870365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31B5C56-56A3-5DB6-E0E9-89C19B11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A4A5D7B7-443D-66F6-B6DA-B249CBAF9B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F3F24179-D8C8-4F14-B72C-A39B9850B431}"/>
              </a:ext>
            </a:extLst>
          </p:cNvPr>
          <p:cNvSpPr txBox="1"/>
          <p:nvPr/>
        </p:nvSpPr>
        <p:spPr>
          <a:xfrm>
            <a:off x="621846" y="395228"/>
            <a:ext cx="62524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Leadership Analogy</a:t>
            </a:r>
            <a:endParaRPr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7252A3E9-36E2-4881-05BA-DAAEE58D3440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87B7264B-F8A6-A8FB-187C-F33D7F3A4D07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AE5E88EF-B693-6EB8-0EA6-82CC5A215BEC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55ADD1DA-05C2-4065-ABF4-E5CA92F4F569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86C02-7394-9125-9A80-F85552835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64" y="961081"/>
            <a:ext cx="631615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AI = worker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Human = direction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Agents need: clear rules, boundaries, and error reporting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Helps explain agent behaviors simply</a:t>
            </a:r>
          </a:p>
        </p:txBody>
      </p:sp>
    </p:spTree>
    <p:extLst>
      <p:ext uri="{BB962C8B-B14F-4D97-AF65-F5344CB8AC3E}">
        <p14:creationId xmlns:p14="http://schemas.microsoft.com/office/powerpoint/2010/main" val="24791224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>
          <a:extLst>
            <a:ext uri="{FF2B5EF4-FFF2-40B4-BE49-F238E27FC236}">
              <a16:creationId xmlns:a16="http://schemas.microsoft.com/office/drawing/2014/main" id="{711FC336-5190-5EB6-9339-28B8EAED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9">
            <a:extLst>
              <a:ext uri="{FF2B5EF4-FFF2-40B4-BE49-F238E27FC236}">
                <a16:creationId xmlns:a16="http://schemas.microsoft.com/office/drawing/2014/main" id="{08ABCBBD-BAB0-D937-18F5-98FB6E83ED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2" name="Google Shape;682;p39">
            <a:extLst>
              <a:ext uri="{FF2B5EF4-FFF2-40B4-BE49-F238E27FC236}">
                <a16:creationId xmlns:a16="http://schemas.microsoft.com/office/drawing/2014/main" id="{B41AC2E1-D8B6-ADE6-0D78-FEE2ED44D411}"/>
              </a:ext>
            </a:extLst>
          </p:cNvPr>
          <p:cNvSpPr txBox="1"/>
          <p:nvPr/>
        </p:nvSpPr>
        <p:spPr>
          <a:xfrm>
            <a:off x="391886" y="654907"/>
            <a:ext cx="86296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This Landscape Prepares Us for the Two Papers</a:t>
            </a:r>
            <a:endParaRPr sz="28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Calibri"/>
            </a:endParaRPr>
          </a:p>
        </p:txBody>
      </p:sp>
      <p:sp>
        <p:nvSpPr>
          <p:cNvPr id="684" name="Google Shape;684;p39">
            <a:extLst>
              <a:ext uri="{FF2B5EF4-FFF2-40B4-BE49-F238E27FC236}">
                <a16:creationId xmlns:a16="http://schemas.microsoft.com/office/drawing/2014/main" id="{378A22E8-636F-AC33-029E-5A9069D44F35}"/>
              </a:ext>
            </a:extLst>
          </p:cNvPr>
          <p:cNvSpPr txBox="1"/>
          <p:nvPr/>
        </p:nvSpPr>
        <p:spPr>
          <a:xfrm>
            <a:off x="1126962" y="1507524"/>
            <a:ext cx="64898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39">
            <a:extLst>
              <a:ext uri="{FF2B5EF4-FFF2-40B4-BE49-F238E27FC236}">
                <a16:creationId xmlns:a16="http://schemas.microsoft.com/office/drawing/2014/main" id="{FDE79750-13B0-B0F5-057F-9BDD7DF3C7BC}"/>
              </a:ext>
            </a:extLst>
          </p:cNvPr>
          <p:cNvSpPr txBox="1"/>
          <p:nvPr/>
        </p:nvSpPr>
        <p:spPr>
          <a:xfrm>
            <a:off x="1131080" y="1931780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>
            <a:extLst>
              <a:ext uri="{FF2B5EF4-FFF2-40B4-BE49-F238E27FC236}">
                <a16:creationId xmlns:a16="http://schemas.microsoft.com/office/drawing/2014/main" id="{554CFF7D-F63E-92FB-4BE2-44F5C36AC0A1}"/>
              </a:ext>
            </a:extLst>
          </p:cNvPr>
          <p:cNvSpPr txBox="1"/>
          <p:nvPr/>
        </p:nvSpPr>
        <p:spPr>
          <a:xfrm>
            <a:off x="1126962" y="2810754"/>
            <a:ext cx="70013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>
            <a:extLst>
              <a:ext uri="{FF2B5EF4-FFF2-40B4-BE49-F238E27FC236}">
                <a16:creationId xmlns:a16="http://schemas.microsoft.com/office/drawing/2014/main" id="{F30DF790-AFF8-796C-84BB-3BE209386FA3}"/>
              </a:ext>
            </a:extLst>
          </p:cNvPr>
          <p:cNvSpPr txBox="1"/>
          <p:nvPr/>
        </p:nvSpPr>
        <p:spPr>
          <a:xfrm>
            <a:off x="1126962" y="2371267"/>
            <a:ext cx="7393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D790CD-A02D-6E16-4865-CE4B1FEF0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18" y="1354097"/>
            <a:ext cx="6593472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AGENTIF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tests instruction following + planning + tools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FIELDWORKARENA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real-world tasks, safety, perception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Helps identify: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behaviors tested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problems addressed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failures exposed</a:t>
            </a:r>
            <a:r>
              <a:rPr lang="en-US" alt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research gaps remaining</a:t>
            </a:r>
          </a:p>
        </p:txBody>
      </p:sp>
    </p:spTree>
    <p:extLst>
      <p:ext uri="{BB962C8B-B14F-4D97-AF65-F5344CB8AC3E}">
        <p14:creationId xmlns:p14="http://schemas.microsoft.com/office/powerpoint/2010/main" val="18198001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7EF88F-2B53-A542-BA3E-FBAE6A46C1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37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E19575E5-8BEA-B5B0-8E05-612F901F0271}"/>
              </a:ext>
            </a:extLst>
          </p:cNvPr>
          <p:cNvSpPr txBox="1"/>
          <p:nvPr/>
        </p:nvSpPr>
        <p:spPr>
          <a:xfrm>
            <a:off x="434068" y="361570"/>
            <a:ext cx="6987268" cy="6238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3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82358-099B-0282-B30B-C0FDF8479A8D}"/>
              </a:ext>
            </a:extLst>
          </p:cNvPr>
          <p:cNvSpPr txBox="1"/>
          <p:nvPr/>
        </p:nvSpPr>
        <p:spPr>
          <a:xfrm>
            <a:off x="438435" y="1226022"/>
            <a:ext cx="7048215" cy="30390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capability that makes an AI system an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an LLM?”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It generates longer responses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It uses tools and follows multi-step action loops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It stores more data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It has a bigger model size</a:t>
            </a:r>
          </a:p>
        </p:txBody>
      </p:sp>
    </p:spTree>
    <p:extLst>
      <p:ext uri="{BB962C8B-B14F-4D97-AF65-F5344CB8AC3E}">
        <p14:creationId xmlns:p14="http://schemas.microsoft.com/office/powerpoint/2010/main" val="233686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EF0489-E017-7E4F-CB8C-6999EF4BBD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38</a:t>
            </a:fld>
            <a:endParaRPr lang="en-IN"/>
          </a:p>
        </p:txBody>
      </p:sp>
      <p:sp>
        <p:nvSpPr>
          <p:cNvPr id="654" name="Google Shape;654;p37">
            <a:extLst>
              <a:ext uri="{FF2B5EF4-FFF2-40B4-BE49-F238E27FC236}">
                <a16:creationId xmlns:a16="http://schemas.microsoft.com/office/drawing/2014/main" id="{1EBD1EBB-5986-A26C-F77D-058D3D77ED78}"/>
              </a:ext>
            </a:extLst>
          </p:cNvPr>
          <p:cNvSpPr txBox="1"/>
          <p:nvPr/>
        </p:nvSpPr>
        <p:spPr>
          <a:xfrm>
            <a:off x="370274" y="431118"/>
            <a:ext cx="7132705" cy="625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/>
                <a:ea typeface="Lato"/>
                <a:cs typeface="Lato"/>
                <a:sym typeface="Lato"/>
              </a:rPr>
              <a:t>Poll 3 (Answer)</a:t>
            </a:r>
            <a:endParaRPr sz="3600" b="1" dirty="0">
              <a:solidFill>
                <a:srgbClr val="F533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661635-3120-2243-386A-6AFDD4C9BA1D}"/>
              </a:ext>
            </a:extLst>
          </p:cNvPr>
          <p:cNvSpPr txBox="1"/>
          <p:nvPr/>
        </p:nvSpPr>
        <p:spPr>
          <a:xfrm>
            <a:off x="434067" y="1176684"/>
            <a:ext cx="8220076" cy="26697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“What is the main capability that makes an AI system an </a:t>
            </a:r>
            <a:r>
              <a:rPr lang="en-US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instead of just an LLM?”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It generates longer responses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It uses tools and follows multi-step action loops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It stores more data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It has a bigger model size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F88A4-B3BA-E6E1-F6DF-A997658B5FDD}"/>
              </a:ext>
            </a:extLst>
          </p:cNvPr>
          <p:cNvSpPr txBox="1"/>
          <p:nvPr/>
        </p:nvSpPr>
        <p:spPr>
          <a:xfrm>
            <a:off x="434067" y="3966816"/>
            <a:ext cx="8220075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</a:t>
            </a:r>
          </a:p>
          <a:p>
            <a:pPr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✔ Answer: B :  “Because agents can use tools and execute multi-step action loops.”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310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8A9ECB63-4796-36C7-6030-36453CA02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99ED8D2-3665-2B60-0B65-ABAC68E77C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6680114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Need a Structured Review Rubric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63E6D92-87F7-29F6-2DA6-77E8D3A95D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4B31FD-E140-25C8-3568-015000BE9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93" y="813598"/>
            <a:ext cx="7691529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Casual reading makes everything look good. Research reading must check: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real problem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assumptions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agent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fairness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missing pieces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  possible improvements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 = clear, repeatable method</a:t>
            </a:r>
          </a:p>
        </p:txBody>
      </p:sp>
    </p:spTree>
    <p:extLst>
      <p:ext uri="{BB962C8B-B14F-4D97-AF65-F5344CB8AC3E}">
        <p14:creationId xmlns:p14="http://schemas.microsoft.com/office/powerpoint/2010/main" val="7854046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26B808B-6936-051F-1C25-4CF7D3890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54F46B05-1637-BBBD-C0C5-A5D878A094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96342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Structured Review Framework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15DCBFE6-7845-7F63-87FA-6122D48449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589596-6045-12AE-5B6B-2F623929D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886264"/>
            <a:ext cx="272863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 Architecture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Experimental Setup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Evaluation Metrics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Validity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Failure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7474246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9E1BADF-6CE3-24C1-788A-2BD36627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6679EFC-DEDF-4B08-3245-FE6172C25B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9C173F5-EA21-BEE6-049B-DC2BB70AD6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7006AE-C463-F783-4F9E-53D853A32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486" y="875006"/>
            <a:ext cx="6832320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exact problem is solved?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Is it realistic + relevant?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Why is it important?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gap exists?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Many papers fail here → vague or broad problem statements</a:t>
            </a:r>
          </a:p>
        </p:txBody>
      </p:sp>
    </p:spTree>
    <p:extLst>
      <p:ext uri="{BB962C8B-B14F-4D97-AF65-F5344CB8AC3E}">
        <p14:creationId xmlns:p14="http://schemas.microsoft.com/office/powerpoint/2010/main" val="42834628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041928A-1986-FAFE-45D0-9BB776B4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00EAA56-A801-4DD6-6B94-D81F212629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FE06309-A5CD-569A-B692-3B0589175F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289A9F-8936-6829-6B9A-0D2927742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79" y="797857"/>
            <a:ext cx="4730782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Identify: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LLM policy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memory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allowed tools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action loop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planning / reflection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multi-agent setup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Many papers hide weak architecture details</a:t>
            </a:r>
          </a:p>
        </p:txBody>
      </p:sp>
    </p:spTree>
    <p:extLst>
      <p:ext uri="{BB962C8B-B14F-4D97-AF65-F5344CB8AC3E}">
        <p14:creationId xmlns:p14="http://schemas.microsoft.com/office/powerpoint/2010/main" val="912169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07C46CF-1E32-63B6-00B9-A9F712C3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41D9E11-E860-B6C1-3B6D-0E87CDD644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20E826A-6C2D-ACD0-1583-AFF62D26E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65948-8137-720B-790B-95173C0AF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08" y="761880"/>
            <a:ext cx="4408579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Check: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dataset / benchmark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realism of tasks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sequence length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difficulty level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constraints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docs / APIs / videos included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Tells if experiment is serious or toy-level</a:t>
            </a:r>
          </a:p>
        </p:txBody>
      </p:sp>
    </p:spTree>
    <p:extLst>
      <p:ext uri="{BB962C8B-B14F-4D97-AF65-F5344CB8AC3E}">
        <p14:creationId xmlns:p14="http://schemas.microsoft.com/office/powerpoint/2010/main" val="3979092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E1EC300-83B9-F6A0-B065-DFE60765F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CD09742E-D989-8ADC-615C-13B53CB4E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Metrics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0406EF1-4D75-8399-6241-5F06CA64A5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44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7069BB-6C27-64A1-DA21-97E1DF76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64" y="908249"/>
            <a:ext cx="4033476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measured? Look for: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accuracy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step-level success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tool error rate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reasoning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safety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robustness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cost, latency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partial credit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One metric only = red flag</a:t>
            </a:r>
          </a:p>
        </p:txBody>
      </p:sp>
    </p:spTree>
    <p:extLst>
      <p:ext uri="{BB962C8B-B14F-4D97-AF65-F5344CB8AC3E}">
        <p14:creationId xmlns:p14="http://schemas.microsoft.com/office/powerpoint/2010/main" val="29367159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B88931A5-53DF-C95A-1BA3-1D0BCDB19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8CBA63B3-F576-293F-0B95-F81BD1D4B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Validity of the Results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66CD7B1C-9378-B33E-B874-2D5DBA335F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F47C1A-5C88-4B6B-94B4-4F13ADF41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818444"/>
            <a:ext cx="4349268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Ask: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Is test set too simple?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Overfitting?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Prompt leakage?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Cherry-picked examples?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Missing negatives?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Does evidence really support the claim?</a:t>
            </a:r>
          </a:p>
        </p:txBody>
      </p:sp>
    </p:spTree>
    <p:extLst>
      <p:ext uri="{BB962C8B-B14F-4D97-AF65-F5344CB8AC3E}">
        <p14:creationId xmlns:p14="http://schemas.microsoft.com/office/powerpoint/2010/main" val="17241088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EB34976-670F-3CCA-2BCC-720DAD30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B0012817-4F05-5649-A9EF-CCF2BEDC7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A6D26E6A-1A2E-CA6E-92FC-1D6AE35458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46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00EF00-1806-31F4-D4DE-BA3C25707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38" y="631250"/>
            <a:ext cx="4269117" cy="3880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Look for: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where agent broke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patterns of failure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hardest tasks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faulty tools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loop collapse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hallucinations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error snowballing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Critical for identifying research gaps</a:t>
            </a:r>
          </a:p>
        </p:txBody>
      </p:sp>
    </p:spTree>
    <p:extLst>
      <p:ext uri="{BB962C8B-B14F-4D97-AF65-F5344CB8AC3E}">
        <p14:creationId xmlns:p14="http://schemas.microsoft.com/office/powerpoint/2010/main" val="42487376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923F013-F033-7B9C-8574-4263552B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70460759-D211-74ED-4993-0A0068D57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3735903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Work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D5A1B59-4ABF-B535-2E51-6076E0EA84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47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D298BF-D5A1-4863-C44D-0D97CA34A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85" y="850513"/>
            <a:ext cx="4463081" cy="2773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authors admit is missing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What assumptions they want to relax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can be extended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Limitations openly stated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Shows vision + honesty</a:t>
            </a:r>
          </a:p>
        </p:txBody>
      </p:sp>
    </p:spTree>
    <p:extLst>
      <p:ext uri="{BB962C8B-B14F-4D97-AF65-F5344CB8AC3E}">
        <p14:creationId xmlns:p14="http://schemas.microsoft.com/office/powerpoint/2010/main" val="3688130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39C430A-0061-ACFA-E013-6BF1BC4B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AF7B25E4-AF9F-8605-E6CF-8F8EF2BB4B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14700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Demo: How to Critique a Paper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CCE1C341-4B0A-04B3-F991-0596CE7B2B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48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7363E3-70D9-AB50-D9BA-1C8A75EE4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282" y="908249"/>
            <a:ext cx="8221436" cy="332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Apply rubric step-by-step: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Setup realism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Baseline fairness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Missing ablations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Robustness issues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Example critiques (generic):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unclear success definition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shallow loop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unrealistic dataset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unfair baselines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no ablations on memory/tools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breaks in long tasks</a:t>
            </a:r>
          </a:p>
        </p:txBody>
      </p:sp>
    </p:spTree>
    <p:extLst>
      <p:ext uri="{BB962C8B-B14F-4D97-AF65-F5344CB8AC3E}">
        <p14:creationId xmlns:p14="http://schemas.microsoft.com/office/powerpoint/2010/main" val="843167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47958CB-A013-4E5A-38F8-63CFFE055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22921A41-230B-B11C-4BC0-E85A17295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5831028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to “Think Like a Reviewer”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B15A0486-1F7C-F1F5-BD8D-683CA1F467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0CFB60-CA60-61D8-5744-4129C35F6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72" y="1110594"/>
            <a:ext cx="7625806" cy="1665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Always ask: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Does evidence support the claim?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Ignore: pretty charts, tables, hype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Focus on: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clarity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fairness, truth, logic, transparency,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34211967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4B8D5594-6BF3-8569-F5F8-3DE5D74C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1">
            <a:extLst>
              <a:ext uri="{FF2B5EF4-FFF2-40B4-BE49-F238E27FC236}">
                <a16:creationId xmlns:a16="http://schemas.microsoft.com/office/drawing/2014/main" id="{6F421404-45B4-0DEB-E1BC-4A062DD27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6679" y="121966"/>
            <a:ext cx="6745428" cy="38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Applying This Rubric to Our Session Papers</a:t>
            </a:r>
            <a:endParaRPr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2BBDDF1-1336-0980-6893-D66A4ABB44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50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CFBE9-7B69-BB1B-EE94-EDD8FFC09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076" y="890747"/>
            <a:ext cx="6572633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Same rubric will be used for:  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FIELDWORKARENA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You will judge: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they solve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how well they solve it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where they fail</a:t>
            </a:r>
            <a:r>
              <a:rPr lang="en-US" altLang="en-US" sz="1800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gap remains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What future experiments are possible</a:t>
            </a:r>
          </a:p>
        </p:txBody>
      </p:sp>
    </p:spTree>
    <p:extLst>
      <p:ext uri="{BB962C8B-B14F-4D97-AF65-F5344CB8AC3E}">
        <p14:creationId xmlns:p14="http://schemas.microsoft.com/office/powerpoint/2010/main" val="35456972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59072-D25B-C1DA-F934-DB4390E12A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51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DD3A187D-5540-7DDB-D00D-84789A6ACE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913" y="122238"/>
            <a:ext cx="7293201" cy="382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4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741" name="Google Shape;741;p43">
            <a:extLst>
              <a:ext uri="{FF2B5EF4-FFF2-40B4-BE49-F238E27FC236}">
                <a16:creationId xmlns:a16="http://schemas.microsoft.com/office/drawing/2014/main" id="{0C0DA87D-BB9B-3B52-833B-E056468C1B6C}"/>
              </a:ext>
            </a:extLst>
          </p:cNvPr>
          <p:cNvSpPr txBox="1"/>
          <p:nvPr/>
        </p:nvSpPr>
        <p:spPr>
          <a:xfrm>
            <a:off x="499243" y="764801"/>
            <a:ext cx="8145514" cy="3922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200000"/>
              </a:lnSpc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part of the paper review rubric helps you judge </a:t>
            </a:r>
            <a:r>
              <a:rPr lang="en-US" sz="18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whether the experiment was realistic and serious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rather than a simple toy demo?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Problem Clarity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Agent Architecture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Experimental Setup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41726708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B818E4-7CBB-5F72-96C1-7E0F267F06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52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5EE2FF19-3425-CA5E-55DD-7F6895C8D1D8}"/>
              </a:ext>
            </a:extLst>
          </p:cNvPr>
          <p:cNvSpPr txBox="1"/>
          <p:nvPr/>
        </p:nvSpPr>
        <p:spPr>
          <a:xfrm>
            <a:off x="215922" y="155121"/>
            <a:ext cx="7107442" cy="41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4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439EB-F21A-4121-0186-FEC711D448E1}"/>
              </a:ext>
            </a:extLst>
          </p:cNvPr>
          <p:cNvSpPr txBox="1"/>
          <p:nvPr/>
        </p:nvSpPr>
        <p:spPr>
          <a:xfrm>
            <a:off x="353037" y="806010"/>
            <a:ext cx="8162313" cy="353148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Answer: C.  Experimental Setup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Why:</a:t>
            </a:r>
          </a:p>
          <a:p>
            <a:pPr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</a:t>
            </a: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section tells you: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what dataset/benchmark is used, whether tasks are realistic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how many steps/actions are required, what tools the agent can use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whether inputs include real-world complexity, whether the environment is challenging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section clarifies whether the research is a serious, real evaluation or merely a demonstration of a toy-level nature.</a:t>
            </a:r>
          </a:p>
        </p:txBody>
      </p:sp>
    </p:spTree>
    <p:extLst>
      <p:ext uri="{BB962C8B-B14F-4D97-AF65-F5344CB8AC3E}">
        <p14:creationId xmlns:p14="http://schemas.microsoft.com/office/powerpoint/2010/main" val="16394433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395EFC4-F45A-7D87-80C3-8F579141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BAD16F-ACC4-F10E-6851-57E789459C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222806B0-2922-B0DE-4D63-CDCB4D5F0D5B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6A2F89-3CD6-8710-598F-133781163CF8}"/>
              </a:ext>
            </a:extLst>
          </p:cNvPr>
          <p:cNvSpPr txBox="1"/>
          <p:nvPr/>
        </p:nvSpPr>
        <p:spPr>
          <a:xfrm>
            <a:off x="742949" y="1102384"/>
            <a:ext cx="7781926" cy="183973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chemeClr val="bg1"/>
                </a:solidFill>
                <a:highlight>
                  <a:srgbClr val="0000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IV — Group Review Sprint No. 1</a:t>
            </a:r>
            <a:br>
              <a:rPr lang="en-US" sz="2000" dirty="0">
                <a:solidFill>
                  <a:schemeClr val="bg1"/>
                </a:solidFill>
                <a:highlight>
                  <a:srgbClr val="000000"/>
                </a:highlight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A:  AGENTIF: Benchmarking Instruction Following of Large Language Models in Agentic Scenarios</a:t>
            </a:r>
            <a:r>
              <a:rPr lang="en-US" sz="12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(Link of Paper)</a:t>
            </a:r>
            <a:endParaRPr lang="en-IN" sz="1800" i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805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4624DCA-2FC6-BA0D-8F6D-B0D492AE6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474AB751-0E9E-F2DB-6E85-F44767C042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C43C5612-C02F-03FA-E704-798207ABA59D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7185D06A-27AA-932B-D925-18BD94075C4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1BCD31-0BF2-DE05-5060-AD2C120D1D89}"/>
              </a:ext>
            </a:extLst>
          </p:cNvPr>
          <p:cNvSpPr txBox="1"/>
          <p:nvPr/>
        </p:nvSpPr>
        <p:spPr>
          <a:xfrm>
            <a:off x="595993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Activity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5B720-3733-82D1-E59F-AD0637AF7468}"/>
              </a:ext>
            </a:extLst>
          </p:cNvPr>
          <p:cNvSpPr txBox="1"/>
          <p:nvPr/>
        </p:nvSpPr>
        <p:spPr>
          <a:xfrm>
            <a:off x="595993" y="1105232"/>
            <a:ext cx="68498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we are doing this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Practice reviewing a real AI paper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Apply the structured rubric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Learn how to critique like a researcher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Prepare for comparison with Paper B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8043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4D115AF-15C5-6618-297B-5FBC167E8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F408BA9-43C4-1EE9-39A6-C4A37E460F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F583D02-14F9-5EEB-D7C7-D4A9C1A19C01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82F8AC3-C010-AF1D-39C3-9928F45EC2F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587411-04BC-B10C-C8D6-73DF87810C92}"/>
              </a:ext>
            </a:extLst>
          </p:cNvPr>
          <p:cNvSpPr txBox="1"/>
          <p:nvPr/>
        </p:nvSpPr>
        <p:spPr>
          <a:xfrm>
            <a:off x="318407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Group Output Tasks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E55FB-D68C-58A9-D182-E4E6BF83D71F}"/>
              </a:ext>
            </a:extLst>
          </p:cNvPr>
          <p:cNvSpPr txBox="1"/>
          <p:nvPr/>
        </p:nvSpPr>
        <p:spPr>
          <a:xfrm>
            <a:off x="555172" y="1245913"/>
            <a:ext cx="4572000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Your 4 Outputs</a:t>
            </a:r>
            <a:endParaRPr lang="en-US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3-line method summary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Strengths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Weaknesses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Follow-up experiment idea</a:t>
            </a:r>
          </a:p>
        </p:txBody>
      </p:sp>
    </p:spTree>
    <p:extLst>
      <p:ext uri="{BB962C8B-B14F-4D97-AF65-F5344CB8AC3E}">
        <p14:creationId xmlns:p14="http://schemas.microsoft.com/office/powerpoint/2010/main" val="737703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6448-FA1B-43C2-3D58-AA746F54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AGENTIF 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66393F-9713-6906-4D2E-315AE9845E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1A4B9-C059-32A8-83CA-AEC647DDA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193236"/>
            <a:ext cx="605874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147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11AED-445A-3472-8660-BC9F5977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Problem the Paper Solves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641B9E-2F7F-2B6D-142A-0E87BF5444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0FD7-0F01-E95B-9A2E-74814CED1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66" y="1261951"/>
            <a:ext cx="5839640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561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25954-4B4F-A3A9-BE9B-2A5757FE69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1FF84-0207-F46C-BCAA-DD7AAB2C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14"/>
          <a:stretch>
            <a:fillRect/>
          </a:stretch>
        </p:blipFill>
        <p:spPr>
          <a:xfrm>
            <a:off x="1366728" y="216013"/>
            <a:ext cx="5773731" cy="45512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00170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F0C2-616E-C052-72AA-7A39425EC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Abstract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082111-8CF6-4EA7-5DA2-5C0427545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EF261-980B-BEE4-E161-876F8FBD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21" y="1289028"/>
            <a:ext cx="449642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618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6809-3356-7836-1501-26A2A29B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D1CEC-1A56-725B-7266-EA92AAB4E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E13429-205D-8A40-D8E8-B1C6A63F2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94" y="1344949"/>
            <a:ext cx="5229955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835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D7337-DAB7-D39D-18CD-C397FDDD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 Related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A84C6B-D773-F929-C117-53D6DF992A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A6915-7CDA-B597-BCAC-E4B4EBDA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27134"/>
            <a:ext cx="5477639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93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D9AF-3C79-308B-06EA-97B5BC93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AGENTIF Benchmark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D92618-C624-12BE-82D4-80AF650B2A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FAD33E-1E92-2583-3E5C-B79F4F93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55837"/>
            <a:ext cx="545858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17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AA15-5B9B-7D02-27A6-08B982EB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3.1.  Constraint Taxonomy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030E15-5644-6A64-260A-D7ECFDEC40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8FA71A-4863-2867-4135-0838790FA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81" y="1269976"/>
            <a:ext cx="536332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888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74DE-BDB5-66AA-927A-39C6B5AE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3.2.  Constraint Presentation Type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D8D2F6-7DAB-DED1-A167-BEE00EEC13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0ADEE-78B8-B47B-5328-5FFF8620E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18" y="1289028"/>
            <a:ext cx="5258534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230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1861-AE9A-7BC0-E100-545D9941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3.3.  Evaluation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CFD130-3620-7DE5-13A6-6F7AE7EFD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AE5D9-2714-C766-8A74-DFB326DB6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366040"/>
            <a:ext cx="557290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3722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DF64-5BF0-043A-641D-9BD39A42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3.4.  Evaluation Protocol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B4065D-5862-0D65-BB3A-9191F62D13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4BD9D-962E-B123-C9A1-1DA9BEAF9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12" y="1288476"/>
            <a:ext cx="5868219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947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A25A4-9B7B-572B-21AE-8448C1B63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 Experiments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5DBBD5-00E7-E201-23D1-A5227735D6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7CDBC-264E-284D-1E11-D95B2D3C6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64" y="1215673"/>
            <a:ext cx="497274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6317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BCDA-C143-1E6E-B29B-89619A01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4.1.  Experimental Setup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4C5F25-BA73-4800-136D-E5C5E96764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0CEC1-7A11-B284-F4C9-DD1F969D5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11" y="1271462"/>
            <a:ext cx="5496692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554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72B3-818F-77CC-0527-1324C991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4.2.  Main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97985-3ECA-07B1-CF7C-FF9A7721BD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9D7FD-A530-481F-84C2-9AD737146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07" y="1276225"/>
            <a:ext cx="5106113" cy="1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27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2A04-AF91-94F5-C665-44D8D555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4.3.  Error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3CA7D2-29F6-3FDD-9775-7376B31ECB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2EDA2B-DC6B-6ED6-3760-DEF340A10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09" y="1240843"/>
            <a:ext cx="4877481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301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0BC4-5408-FE90-440C-B43E9FB3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26" y="593484"/>
            <a:ext cx="7248298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4.4.   Analysis of Instruction Length and Constraint Quantity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58AE0-8EBC-123D-D36C-ADCFFC683ED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7CFB9-0C4A-B4C0-2340-5C6BCC70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26" y="1455848"/>
            <a:ext cx="599206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622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BAC5D-F5C5-C4E2-31AC-14E89596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4.5 Analysis of Meta Constraints</a:t>
            </a:r>
            <a:b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43EFB7-822D-6536-25A5-01E3913B41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EB7B2-27BF-9111-AEBF-F9C9CA618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54" y="1174712"/>
            <a:ext cx="525853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551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B8D4B-8219-4CF9-4D39-92509621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44DB1-3CDA-0FCA-691A-C4D29C24F7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BA312-F029-2557-1CBB-06B34376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07" y="1250924"/>
            <a:ext cx="5391902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990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8751-35CB-4212-1EC8-CD389475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A Limitations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99337-2364-4B84-5831-BBE7DC951F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00A66-21D2-7268-D362-F1AD987E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81" y="1330659"/>
            <a:ext cx="4944165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616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D98AA-F62A-F52C-5ED9-5806BCA6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B Ethical Considerations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0F6E3-CF02-D6D3-6382-327C41018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BBC05-3424-399B-7DA0-191F8381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85" y="1279502"/>
            <a:ext cx="5391902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531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F37F8-A10E-E0C2-1185-283E647E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019698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C Details of Constraint Taxonomy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4E7D1-F9B8-7032-16E1-DB6BF1DCB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3AD33B-C4F9-5203-6318-9A1EBF74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036" y="1221807"/>
            <a:ext cx="5830114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841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8B84A-BA71-C228-82AE-0929D9A60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D Dataset Construction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115BB-5846-FAA2-09D6-B10100BA27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9643E6-A1CE-E5C7-D992-2EBE9F7EF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52" y="1208202"/>
            <a:ext cx="4810796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988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C4372-9BAD-9761-A288-6446C1BD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Appendix E Experimental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E85DD8-17A1-6356-2276-B2D88C2F25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62912-D209-ED43-5EA6-6604F0A9E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88" y="1251056"/>
            <a:ext cx="4820323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5774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2CD2-E9A9-FDA6-C983-4F3C7C0E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Summary of Appendix-E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BACF5-9A53-E45B-D9CF-832B71ABE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51721-DDBB-3F7B-1471-0E534DDED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18" y="1251716"/>
            <a:ext cx="579200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7151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EB1A3-3992-48D5-8746-7B3DCA2AB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Closing 🎯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FC613-B48B-FAAB-D1FA-204E6687298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E406A-8032-7C80-3F3E-9BD056B53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21" y="1166664"/>
            <a:ext cx="5391902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2147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527D78C-F12D-56D2-8B9C-81D0E20BD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CFE5739-E2C8-2C5B-4FB0-F71BDB1B71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5CBE6BCC-12F2-2D1E-0F25-24EB58DF9971}"/>
              </a:ext>
            </a:extLst>
          </p:cNvPr>
          <p:cNvSpPr txBox="1"/>
          <p:nvPr/>
        </p:nvSpPr>
        <p:spPr>
          <a:xfrm>
            <a:off x="490147" y="1296903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0979FB94-7F82-015B-623C-28D0694E838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AE36CB-8F07-8986-130D-026785E7575D}"/>
              </a:ext>
            </a:extLst>
          </p:cNvPr>
          <p:cNvSpPr txBox="1"/>
          <p:nvPr/>
        </p:nvSpPr>
        <p:spPr>
          <a:xfrm>
            <a:off x="751114" y="3709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Review Rubric Reminder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B7BE4-0A99-21A3-33EA-1FA8D26C8256}"/>
              </a:ext>
            </a:extLst>
          </p:cNvPr>
          <p:cNvSpPr txBox="1"/>
          <p:nvPr/>
        </p:nvSpPr>
        <p:spPr>
          <a:xfrm>
            <a:off x="751114" y="832614"/>
            <a:ext cx="4572000" cy="3952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 This Rubric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Problem Clarity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Agent Architecture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Experimental Setup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Evaluation Metrics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Validity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Failure Analysis</a:t>
            </a:r>
            <a:b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Future Work</a:t>
            </a:r>
          </a:p>
        </p:txBody>
      </p:sp>
    </p:spTree>
    <p:extLst>
      <p:ext uri="{BB962C8B-B14F-4D97-AF65-F5344CB8AC3E}">
        <p14:creationId xmlns:p14="http://schemas.microsoft.com/office/powerpoint/2010/main" val="10710794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A76C-9455-B09B-2A8E-882AE015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 Clarity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A992E-BF84-D0E3-92A6-7BE14CD6F9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E439BE-0AE8-A49A-BAB7-0AC4E827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49" y="1202046"/>
            <a:ext cx="569674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365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E335-C435-CB85-9E8A-57A2E748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98A141-6A0D-6ECC-433E-86E180918F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5C7AD-EBCA-34AC-7429-B82B0478E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07" y="1276886"/>
            <a:ext cx="5287113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921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C3C8-2E75-0999-13C0-81F66A73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Experimental Setup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39EFC-632D-0A16-BC43-94A2D12949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EED136-D886-9CD7-4FF3-38A5A928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38" y="1166672"/>
            <a:ext cx="5430008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088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38D1-FFDC-6052-A64D-793E3C55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Metrics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54E38-C007-B7E7-893B-F5F83172E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26096-9501-47FC-41F9-E332CF72A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45" y="1241396"/>
            <a:ext cx="5353797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937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0D464-77C0-A0B2-0EE9-F9D78F82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8A0C9-B44A-782F-1E75-B1BEC99AC1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874FD-3E9B-72F8-E6ED-D4DACE061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7" y="1242867"/>
            <a:ext cx="5344271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634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1238-335B-D6BB-A31E-2D1406D3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Failure Analysis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7710BF-9A91-616D-1EB6-21A6C9916C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6F6B6-AFBD-4967-F2B2-68F33A7E5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14" y="1236742"/>
            <a:ext cx="5096586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798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A56B1-74D0-08F4-13D9-CD220038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E318A0-6065-CAFB-FB33-961B964B0A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E2EB6-98A1-F9BD-39BD-5293712FE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270" y="1171435"/>
            <a:ext cx="5029902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641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7950B-DEEC-D144-4969-3A90320E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Rubric-Level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D5425-D8EE-F762-EA89-5B60DACD9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A187C-E0DF-3D29-D4DC-FDF9B6F14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13" y="1257841"/>
            <a:ext cx="4782217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5692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E9A43-B4D6-7BA2-6779-769E8B7BF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3-line method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1E8957-EB2F-A583-190B-CD5695C81C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29F4F-37AC-3D65-D11D-2692F3896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245" y="1183048"/>
            <a:ext cx="597300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1584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CAB5-5106-1DEF-BCF3-DC5FE96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Strengths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2EA231-B2F7-F79A-C7F1-53C1F74BE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80276-B131-85FC-FCC2-61B10C16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40" y="1212818"/>
            <a:ext cx="4715533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620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7DA9C-0D4A-93AA-031F-2F5A347A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Weaknesses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CEF99F-F425-BD73-9B89-299349DF2E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92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4869E-A5EA-9D69-3081-CF3BC25D7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05" y="1183693"/>
            <a:ext cx="520137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8790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26E-122D-8ECE-9FCF-58628072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Follow-up experiment idea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0017CB-97C6-5F40-4020-A913D5D06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545ED-0191-32F1-BC28-F74C6E73F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1" y="1241396"/>
            <a:ext cx="4915586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871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A6964-A824-5A3D-6D9C-A66B5E5D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is directly from the AgentIF paper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DE332B-C911-A7E1-3A93-E0C3C403F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94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27325-48BF-FCE7-A29F-FDC28CC44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828" y="1228585"/>
            <a:ext cx="5525271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53391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B2A52-A09C-E877-C483-B725F6107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B7B6C47E-F663-87E7-678D-C6912F06CCB7}"/>
              </a:ext>
            </a:extLst>
          </p:cNvPr>
          <p:cNvSpPr txBox="1"/>
          <p:nvPr/>
        </p:nvSpPr>
        <p:spPr>
          <a:xfrm>
            <a:off x="287111" y="177774"/>
            <a:ext cx="5493300" cy="581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5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C3D281-6669-6AF0-9000-0142DD231EBA}"/>
              </a:ext>
            </a:extLst>
          </p:cNvPr>
          <p:cNvSpPr txBox="1"/>
          <p:nvPr/>
        </p:nvSpPr>
        <p:spPr>
          <a:xfrm>
            <a:off x="287111" y="1030202"/>
            <a:ext cx="8091579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What does AGENTIF mainly evaluate?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How well LLMs detect safety violations in real videos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How well LLMs follow instructions in browser-based agent tasks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How well LLMs collaborate as multi-agent systems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How well LLMs generate long research summaries</a:t>
            </a:r>
          </a:p>
        </p:txBody>
      </p:sp>
    </p:spTree>
    <p:extLst>
      <p:ext uri="{BB962C8B-B14F-4D97-AF65-F5344CB8AC3E}">
        <p14:creationId xmlns:p14="http://schemas.microsoft.com/office/powerpoint/2010/main" val="394186505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A0679E-C88A-52F4-E00F-F7A0B337C2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96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A22A9BE3-DF70-B70E-FAFE-C5ED0D7A1323}"/>
              </a:ext>
            </a:extLst>
          </p:cNvPr>
          <p:cNvSpPr txBox="1"/>
          <p:nvPr/>
        </p:nvSpPr>
        <p:spPr>
          <a:xfrm>
            <a:off x="270606" y="171450"/>
            <a:ext cx="5493300" cy="442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5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65182-3CB7-649B-BA2F-D7574366E10C}"/>
              </a:ext>
            </a:extLst>
          </p:cNvPr>
          <p:cNvSpPr txBox="1"/>
          <p:nvPr/>
        </p:nvSpPr>
        <p:spPr>
          <a:xfrm>
            <a:off x="270606" y="908101"/>
            <a:ext cx="8108031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Correct Answer: B. How well LLMs follow instructions in browser-based agent tasks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is the BEST option: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AGENTIF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instruction-following benchmark;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Environment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browser-based tasks; 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Focus = 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step-by-step agent actions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Completely different from video or safety benchmarks (A)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Not about multi-agent systems (C), Not about summarization (D)</a:t>
            </a:r>
          </a:p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This makes B the </a:t>
            </a:r>
            <a:r>
              <a:rPr lang="en-US" sz="1600" b="1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only</a:t>
            </a: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correct answer</a:t>
            </a:r>
          </a:p>
        </p:txBody>
      </p:sp>
    </p:spTree>
    <p:extLst>
      <p:ext uri="{BB962C8B-B14F-4D97-AF65-F5344CB8AC3E}">
        <p14:creationId xmlns:p14="http://schemas.microsoft.com/office/powerpoint/2010/main" val="37875255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6597D4-04C6-7211-023E-33E0C562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06C0FC5-E591-1089-588D-7DEB0E09F9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97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7D0BD-1C70-7E9F-0014-E8A04CC8CEB7}"/>
              </a:ext>
            </a:extLst>
          </p:cNvPr>
          <p:cNvSpPr txBox="1"/>
          <p:nvPr/>
        </p:nvSpPr>
        <p:spPr>
          <a:xfrm>
            <a:off x="824593" y="1224643"/>
            <a:ext cx="7600950" cy="21891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(Group Review Sprint No. 2)</a:t>
            </a:r>
          </a:p>
          <a:p>
            <a:pPr>
              <a:lnSpc>
                <a:spcPct val="200000"/>
              </a:lnSpc>
            </a:pPr>
            <a:r>
              <a:rPr lang="en-US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Paper B: FieldWorkArena: Agentic AI Benchmark for Real Field Work Tasks </a:t>
            </a:r>
            <a:r>
              <a:rPr lang="en-US" sz="1800" b="1" i="1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(Link of Paper)</a:t>
            </a:r>
            <a:endParaRPr lang="en-IN" sz="1800" b="1" i="1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260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DB4E47-C2BE-C263-3801-EAB18AC26D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662322-3870-CC12-2712-B1118A7D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What FieldWorkArena 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0AE8E-CF27-CBE8-66FF-7FA60627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82" y="844187"/>
            <a:ext cx="4582164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4688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F0AB-5917-8B28-87F0-57FC46E7F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739447-DB2A-F12C-B941-BAEC703A2D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632398-775C-4150-1AFA-475C57A7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41221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What Problem the Paper Solves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235734-D864-E22E-C77D-911AD62B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9" y="871404"/>
            <a:ext cx="474411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6423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A0872-55FA-EBB0-47F9-4CB879D1A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CE9F5C-6344-E887-B5A0-DA9B7ACDC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2" t="5397"/>
          <a:stretch>
            <a:fillRect/>
          </a:stretch>
        </p:blipFill>
        <p:spPr>
          <a:xfrm>
            <a:off x="383720" y="552621"/>
            <a:ext cx="7693459" cy="435156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1023843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A338-22DF-304B-830D-2447994B1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D477AC-9E9B-6825-6CB6-3136803EAA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B27F1C-75F8-5F3E-9AE6-5B3AA809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Abstract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8B996-FC5E-4944-29FD-6304DC06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81" y="780911"/>
            <a:ext cx="4753638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7899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39147-8F8C-0BFF-27A2-2C6B649F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453BA1-4C3A-B53E-0667-9B557B49A9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8A4C90-2A81-EABC-3453-F6A778D1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0D400-2169-4C42-C7DB-ACC24893C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70" y="803365"/>
            <a:ext cx="472505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18083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D1C2F-BE77-5EEB-02A1-81AFB7860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7B638-9085-CBDB-14BF-DE94FC14A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D459C2-EC7E-5FB1-7A73-1920CB66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394364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FieldWorkArena Data Collection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C8D26-B62C-C9E1-0FD1-F7CB1B1C8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30" y="788391"/>
            <a:ext cx="462027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784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550D-2C70-106C-2B7C-15112107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A8A3E-38D0-3555-BFA5-AEE1591F44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8B2225-5F7B-87EA-0551-F8AC3E3B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90207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2.1    Input Data Acquisition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0A1AA-5D15-7E90-AF66-B35A2CE1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05404"/>
            <a:ext cx="473458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624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C640B-3E85-97A4-B726-D4DBB687F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FB9429-54CD-7A9A-0F3E-CD888843F7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98CBF-AA11-E4FD-12CF-06C2DE30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2.2    Query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D43C4-7811-AFC2-BA7A-6607F3AA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4" y="836015"/>
            <a:ext cx="4563112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0145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5B82-9B84-6EBB-D6F5-433AC3816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78755F-29F5-BC31-DECA-BDC416BDC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C207CC-B1BC-8C90-6A47-122360E9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2.3   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F69DF-E6E9-A01E-D4F0-CE96B6BA2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73" y="855067"/>
            <a:ext cx="511563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95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02D88-F50F-5522-8F13-582666FC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B03EDE-5DA2-9AA7-CC9D-89EF9E0631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477CD7E-11EE-4E2C-630E-62D45E83B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598471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  Benchmarking and Evaluation Methodology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F19936-A3F2-7DF8-CE58-CBE0D4068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82" y="809490"/>
            <a:ext cx="5611008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661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03C5-1707-899D-F10F-2B7A9B0F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F2D8EA-0173-1609-4FE9-A83CE64BF0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49D6A8-BFED-6322-DCF3-C173F4C79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2296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3.1     Definition of Action Space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970886-9DE9-BA93-3BAA-938408A55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" y="824449"/>
            <a:ext cx="4544059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22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C20F-414C-1E7B-AE87-B8A6B6012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27531A-07B6-9CF0-BC01-CAD348C9E9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232699-DE59-775C-E09E-004F6D85D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3.2</a:t>
            </a:r>
            <a:r>
              <a:rPr lang="en-IN" dirty="0"/>
              <a:t>  </a:t>
            </a:r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5AEBEA-F20A-4AAE-9282-1B90DAC38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47" y="814930"/>
            <a:ext cx="4143953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8276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BF8E-0AB2-9CA1-33E0-7ABEB0081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6210AD-6AF2-C40E-9DCB-27FB7F688F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84D105-11C6-FEF6-EA98-C760F27B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Planning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92C9E-8229-7F15-138F-D97E72655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4" y="809379"/>
            <a:ext cx="4115374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246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C234B-6123-E99D-FDA7-01EF4D9ED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FBDAD0-8937-9ECF-C3CD-043EDCE39B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F89620A-777A-5E44-0BB8-79C38D99E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Perception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1E5E1-241D-4191-199D-0F2AC747E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05" y="923695"/>
            <a:ext cx="410584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5268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1B86-FC00-75D8-AFDE-EBD2B1C4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71509A-3530-CBC2-BC3C-5EF330046F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EBC1D5-57FC-4132-8D86-BDDC4121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7EF22-3913-67A1-00C3-6CC6772D3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63" y="735350"/>
            <a:ext cx="4029637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1548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0938F-5B98-5FBB-FF36-8C41BDB0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790E4B-53EF-D577-CD3D-839A50BE14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E100DB-A32E-695A-569B-4E5566A2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Combination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DCBDB-C7F9-4EAE-D888-BD9F53002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5" y="931946"/>
            <a:ext cx="442974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3140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CB85-AA44-EF31-2BF8-9282F3886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4DB0A2-8ABD-5853-FCEF-E1D6816AC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F96272-1D45-1267-542F-AB519E05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4981942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3.3   Evaluation Environment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5BD3D-411E-3CC4-9181-1718D41EE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18" y="953715"/>
            <a:ext cx="441069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5201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6A02-D9F2-A2CB-7A70-A9224C02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3045E4-67F8-26FE-D61F-3BE09F8DD7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3B1DCF-9BA4-64BE-9D0A-2C3CA6CC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3.4    Evaluation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430A3-B92D-0F7B-3149-2C665372B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66" y="974815"/>
            <a:ext cx="4143953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9732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BFB7-A46D-6AF0-F398-2A986D20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043400-0950-101D-3752-E19E156F1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E37883-12D0-4F6E-8FB8-1DC32E7A3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    Experiments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42FC2-D483-A240-39BC-644D88AD3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36" y="914169"/>
            <a:ext cx="3801005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75967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69F02-4E34-AF1B-5472-5BB445603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F1ECF-5682-6FDF-197A-A065AFBC3D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779BE2-91B2-1825-2D81-4206FCCD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73828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4.1   Experimental Condition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7E3CF4-0B3A-FBC0-268B-C6FB2690B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34" y="933221"/>
            <a:ext cx="422969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2205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83A1-188E-7AB5-FFAE-75B9FA93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7AD893-7D45-BC77-7C44-77D9D11765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D2BA1D-61BF-35B2-A3CF-9DBA5585D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4.2  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76FFB-C1B9-6867-AD5D-AA519BB6B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793840"/>
            <a:ext cx="434400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586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A230-A530-500E-8DC8-70662230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492E9-8BAD-0375-129C-D71E731D4D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45B956-CB87-B414-55F3-5035244D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4.3   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C2623-1749-4AD0-06AA-56D2EA56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45548"/>
            <a:ext cx="434400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84304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D314D-3370-5AC4-D5B3-1B40CE54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1318A2-0FF6-7D70-CAE6-710A4197EF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04C56-9521-E06F-E128-D19E3A38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    Related 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A80D9-B1F8-4055-2626-76DF46457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7" y="883671"/>
            <a:ext cx="4067743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444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4106A-ECF3-0DFA-BD7B-4FEB58C6C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649960-D1D6-43C5-5B72-543DCA83E0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A64A9F-245C-CBA0-9E6C-31FA83BD3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4255321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5.1    Multimodal LLMs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25EAA-1718-5EC2-BFEC-6481ADE00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30" y="971327"/>
            <a:ext cx="4382112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666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3F93A-5E67-3982-E56C-81EF15BF0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82933A-D6A5-CCD1-9B3F-4EE060DC9D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EE72EB-73B0-ED5F-F2D6-66701496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700400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5.2   LLM Agents for Edge AI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6B87D4-017D-E707-4899-1A332AF2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89" y="916320"/>
            <a:ext cx="445832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029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24BF8-F623-772B-607A-5ABD72D8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5EBD93-90FD-A60B-6FF5-4C09A191DD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D3B991-F479-3783-AA05-7FE03291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533157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5.3    Benchmark Suite for Agentic AI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7383A-C72A-92DF-F1CC-D1CAEA6B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58" y="814955"/>
            <a:ext cx="4991797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867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8270-A9B9-CA87-8777-5E7E97D0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43E3B8-3F06-D2A4-7B7E-BE71B0ED41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124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5954E6-62FA-4509-9A47-A2E3F66B4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5.4    Contribution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F201A-C180-DB61-6E19-F89256FD9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33" y="906123"/>
            <a:ext cx="4963218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59553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BA24-91F6-8168-DD98-572C84A9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476BBA-95C0-EE44-CD91-039FEB4311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4339C9-A1FB-2896-B407-C9E18584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6566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   Conclusion and Future Work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C6C1C-9F9D-8CDF-CE98-2BC434C14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47"/>
          <a:stretch>
            <a:fillRect/>
          </a:stretch>
        </p:blipFill>
        <p:spPr>
          <a:xfrm>
            <a:off x="415374" y="849085"/>
            <a:ext cx="4639322" cy="198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3747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0A82C6-0C7D-7A8E-07F3-A398D7215D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F5ADF16-FCF1-6D36-D33D-F69CC03C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925042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Step 2 — Apply the Rubric (Guided Walkthrough)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63594-8375-C368-52D3-C8A8247F5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391" y="748787"/>
            <a:ext cx="3505689" cy="4086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62DCAB-8C72-6AE4-2242-A6EF06FB5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88" y="895116"/>
            <a:ext cx="4353533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0488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5E28A-E202-D773-C5B8-E04B03B5C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E84A26-2A7B-072B-19D8-0FC6E0A5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121966"/>
            <a:ext cx="7543800" cy="1021034"/>
          </a:xfrm>
          <a:solidFill>
            <a:srgbClr val="FF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 Problem Clarity — What problem does FieldWorkArena solve?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AD5CDA-F167-52A2-77E1-A37E98FEA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28" y="1298655"/>
            <a:ext cx="5401429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6942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329F27-6061-36EA-2A17-4279272B92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30B70FE-5CF8-D043-0D5D-337A886B4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9" y="162787"/>
            <a:ext cx="770881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Agent Architecture — What does the agent look like?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B7FDFE-3DE0-B924-2EE3-DF731FDE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62" y="820363"/>
            <a:ext cx="5506218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8795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FBFB4-B58B-590F-13BA-CE01B8C621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129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66114B-A194-45CE-02E3-5618B6D80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7080164" cy="898570"/>
          </a:xfrm>
          <a:solidFill>
            <a:srgbClr val="FF000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Experimental Setup — What tasks does FieldWorkArena use?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3ACD80-E66D-0B13-B8A8-913195B47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8" y="1493928"/>
            <a:ext cx="5144218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69950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13941-DF24-6AB9-EDFB-5C88B3C06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130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6EF624-8F62-24A1-E33D-54ACAE9E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793" y="121966"/>
            <a:ext cx="7600950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Evaluation Metrics — How do they score the agent?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78EFA8-95AF-FFB8-595D-9CB280496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8" y="791115"/>
            <a:ext cx="5306165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776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7C2570-400F-EBE0-C559-6DA2AA42EC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131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3861A2-B1B8-0B08-BAEB-A09A22821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57500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5. Validity — Are results meaningful?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3A92C9-991E-57F8-FC21-214A1F61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83" y="914264"/>
            <a:ext cx="4953691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619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68701-76E8-372C-F6F0-BA494FB2D7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132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AB45282-7D70-A635-ED86-0C40FFE1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6688278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6. Failure Analysis — Where do agents break?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D60DC-E670-A7D0-A619-1DFB6385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08" y="823772"/>
            <a:ext cx="5534797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556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97FFD-9FF3-9588-CEFE-A7F5E9543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133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05C499-E143-CE6E-7F73-C83140C72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06" y="102393"/>
            <a:ext cx="7447557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7. Future Work — What limitations do authors admit?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DAD1D2-E1B8-1CE9-0587-987FB6F4B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57" y="920389"/>
            <a:ext cx="5153744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71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6D69-F270-0F67-373B-99CEDC0F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0913-74C4-6D50-A681-DDC037E2E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656512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3 — Guide the Groups to Produce Outputs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8921B6-53F2-D58B-6B21-CB92DBA0F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92868-57CE-B3E9-7CEA-3D418D50D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74" y="1310260"/>
            <a:ext cx="4629796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3984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E0FD68-538F-B201-8D3B-EA67B748E0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135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5E0FC5-D418-CAB9-A603-357F210E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390157" cy="382564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Arial"/>
              </a:rPr>
              <a:t>Output 1 — 3-Line Summary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29CB83-043B-8866-D84B-487B8E46B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946" y="839448"/>
            <a:ext cx="4696480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237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460888-7CA0-AC27-21CB-DFA5A53997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136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99A204-8FE8-3E2A-8047-0AC4DD4E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2 — Strengths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CA619-9CD1-F502-FDC9-6047CA49A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26" y="855745"/>
            <a:ext cx="4296375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5821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2241FD-45AE-E645-1F5F-C04CA7EBF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137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F56C6C-EBA5-9024-509F-F65D2631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3 — Weaknesses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0E140-5D9E-C100-EABF-3068ECC8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79" y="832613"/>
            <a:ext cx="4915586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2855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D56AD-10E0-2A48-4C20-EDE9800ED7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138</a:t>
            </a:fld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7170CC-EEF3-AB38-1516-FD34E5ADB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79" y="121966"/>
            <a:ext cx="5651414" cy="382564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Output 4 — Follow-up Experiment Ideas</a:t>
            </a:r>
            <a:endParaRPr lang="en-IN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250AE-561C-E2C1-22C3-D6462A4A5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9" y="887047"/>
            <a:ext cx="5582429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77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CCF1F191-9DC7-73B2-1789-8D6D6017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CCD37EE-4506-4932-9011-E30335AA67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E42B8-27D6-1B90-F1ED-419AB79B3173}"/>
              </a:ext>
            </a:extLst>
          </p:cNvPr>
          <p:cNvSpPr txBox="1"/>
          <p:nvPr/>
        </p:nvSpPr>
        <p:spPr>
          <a:xfrm>
            <a:off x="547007" y="82877"/>
            <a:ext cx="680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Step 4 Comparing AGENTIF vs FieldWorkArena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11E0A6-E3ED-BFF8-57FE-DB9B723F1C8F}"/>
              </a:ext>
            </a:extLst>
          </p:cNvPr>
          <p:cNvSpPr txBox="1"/>
          <p:nvPr/>
        </p:nvSpPr>
        <p:spPr>
          <a:xfrm>
            <a:off x="832756" y="1110343"/>
            <a:ext cx="76825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REALISM — Which benchmark is closer to real-world conditions?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           GENERALISATION — Which benchmark generalises better across domains and tasks?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         Which benchmark gives more reliable evaluation results?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4.           The Overall Comparison — Final Summary </a:t>
            </a:r>
            <a:endParaRPr lang="en-IN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AutoNum type="arabicPeriod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69128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61FC-5421-3C22-F2B0-0A406B658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4DE6-D7DA-5565-4486-01920E50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Compare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68C884-044E-BC60-00D4-111667EA5D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2F0A9-5169-D971-05F9-D3A98221D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05" y="1208178"/>
            <a:ext cx="5696745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33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31755-380C-47D3-54BF-2BA6226E5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450A3-6602-5ED5-5021-17264715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321776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Realism Comparison —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3F8D25-57FF-12FA-ADD0-176E4D08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1CDE0-4D01-3B3D-8075-39EA5AD63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52" y="1265305"/>
            <a:ext cx="3724795" cy="17146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F6D598-4034-8831-A9EE-1F3FF343C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855" y="1265305"/>
            <a:ext cx="4124901" cy="171466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193648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243F-9FC2-4007-09F8-5B9A21FC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Realism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BF77BC-6616-8225-649C-8BBEEBF25E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30187B-59EB-25FA-BE75-26F24E9A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16"/>
          <a:stretch>
            <a:fillRect/>
          </a:stretch>
        </p:blipFill>
        <p:spPr>
          <a:xfrm>
            <a:off x="960734" y="1608365"/>
            <a:ext cx="5048955" cy="1611288"/>
          </a:xfrm>
          <a:prstGeom prst="rect">
            <a:avLst/>
          </a:prstGeom>
          <a:ln w="38100">
            <a:solidFill>
              <a:srgbClr val="FFFF00"/>
            </a:solidFill>
          </a:ln>
        </p:spPr>
      </p:pic>
    </p:spTree>
    <p:extLst>
      <p:ext uri="{BB962C8B-B14F-4D97-AF65-F5344CB8AC3E}">
        <p14:creationId xmlns:p14="http://schemas.microsoft.com/office/powerpoint/2010/main" val="153845637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141CB-CB5E-C79E-E56F-89A47DED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6674-AFFC-D58B-C023-7090AB11C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37" y="511841"/>
            <a:ext cx="8595406" cy="562407"/>
          </a:xfrm>
        </p:spPr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 Comparison — AGENTIF vs FieldWorkArena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7363C3-10D7-7EA3-0B3F-74B7A887C9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143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1209A-D76F-065C-EF63-2F5BFCE51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77" y="1082173"/>
            <a:ext cx="4667901" cy="18385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C6281-4754-B58D-66F4-2546869D4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588" y="2928680"/>
            <a:ext cx="5801535" cy="16609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39673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1451-F9C9-2292-1AD4-B0B135B4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Generalisation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DC0CD4-E9D9-A3F2-AA79-4B40B723026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5596-30FF-AE9A-96F4-B641730F9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12" y="1483302"/>
            <a:ext cx="5325218" cy="14537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4979908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B5EF-6870-0CA1-ADB1-3D88D2B5F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F647-966B-3A0C-E4E4-2D768FEB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544498"/>
            <a:ext cx="7656512" cy="562407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Reliability — AGENTIF vs FieldWorkArena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13BA9C-A5B6-D8D4-D158-0CDE3D16A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1FC324-047E-9D4F-8A9E-A1CCD3DEB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40" y="1292537"/>
            <a:ext cx="3324689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2A5EB2-3F52-8DCA-E391-9128E5233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220" y="1292537"/>
            <a:ext cx="3019846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509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51441-D9C0-16DE-56DE-E2F07054E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85D1-7D8D-AA8A-4FA6-DD9C0C5B2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Evaluation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05AD0E-D898-D0FC-CF0C-2F98CFE84E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146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43087-91A9-770C-1DEC-028D8125B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13" y="1184238"/>
            <a:ext cx="551574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4135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60B2A-8B0C-73A1-BA45-44D2B0B9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7" y="544498"/>
            <a:ext cx="7395255" cy="562407"/>
          </a:xfrm>
        </p:spPr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 vs FieldWorkArena — Final Comparison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C463AF-3E79-06A6-4F9D-A5B74DCC0E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CB9A4-140E-71CF-8917-7D546D128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71" y="1241512"/>
            <a:ext cx="3705742" cy="1991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499D5B-D28E-F2BD-B071-D5D298697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857" y="1241512"/>
            <a:ext cx="3038899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2897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9C148-77C1-D616-F5C2-87777BE2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Verdict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3D5AC-E01E-C3AA-4080-51C1613EF4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B0FDF-3D93-0FC8-7FC2-2F037B20A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45" y="1186402"/>
            <a:ext cx="4686954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39066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5BB3E-A05B-1FDC-FFD3-636C1BB9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08A2B-1073-C0A3-B416-C6ABCB5F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</a:t>
            </a:r>
            <a:r>
              <a:rPr lang="en-IN" sz="2400" b="1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inal</a:t>
            </a:r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One-Line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F7AFC-641D-3838-9B7C-2356313370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DBAA00-2DA9-9DF2-2A87-6E7B7628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07" y="1204132"/>
            <a:ext cx="5153744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7855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9F62612B-5D8F-54C4-58D4-7D11C138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DFF8A89-EF1C-4565-6E03-C2CB45CE8F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5FC3D-1797-BBA4-5BCE-627191576617}"/>
              </a:ext>
            </a:extLst>
          </p:cNvPr>
          <p:cNvSpPr txBox="1"/>
          <p:nvPr/>
        </p:nvSpPr>
        <p:spPr>
          <a:xfrm>
            <a:off x="547008" y="8287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Comparison Slide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1A2436-0046-9BB1-311A-D9827A866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50" y="1082562"/>
            <a:ext cx="3524742" cy="210531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432004-936D-F983-E613-66D441679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08" y="1082562"/>
            <a:ext cx="3829584" cy="210531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044314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24D50D5-76BB-FBC1-B562-3B6B1CA0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3964E50F-6D6E-464C-F9C5-BCDCC000AC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C2E9E-F932-312C-8F6E-683E094B6776}"/>
              </a:ext>
            </a:extLst>
          </p:cNvPr>
          <p:cNvSpPr txBox="1"/>
          <p:nvPr/>
        </p:nvSpPr>
        <p:spPr>
          <a:xfrm>
            <a:off x="318407" y="665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43094-CE13-1975-19B2-5EC5ABEDC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92" y="735627"/>
            <a:ext cx="6947808" cy="221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AGENTIF → Best for digital agent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FieldWorkArena → Best for real-world deployment 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Both important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Test different skill sets</a:t>
            </a:r>
          </a:p>
        </p:txBody>
      </p:sp>
    </p:spTree>
    <p:extLst>
      <p:ext uri="{BB962C8B-B14F-4D97-AF65-F5344CB8AC3E}">
        <p14:creationId xmlns:p14="http://schemas.microsoft.com/office/powerpoint/2010/main" val="326686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BEFBD2-5117-CB44-C077-B89CA34597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152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B6E8D0E7-920A-8A38-0C74-A83F53520424}"/>
              </a:ext>
            </a:extLst>
          </p:cNvPr>
          <p:cNvSpPr txBox="1"/>
          <p:nvPr/>
        </p:nvSpPr>
        <p:spPr>
          <a:xfrm>
            <a:off x="164471" y="71638"/>
            <a:ext cx="5493300" cy="467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6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E5562F-2261-1ECE-E693-3A93FBC15B78}"/>
              </a:ext>
            </a:extLst>
          </p:cNvPr>
          <p:cNvSpPr txBox="1"/>
          <p:nvPr/>
        </p:nvSpPr>
        <p:spPr>
          <a:xfrm>
            <a:off x="221621" y="908249"/>
            <a:ext cx="7689572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benchmark is more realistic for testing AI agents in real-world physical environments?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AGENTIF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FieldWorkArena 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Both equally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Neither</a:t>
            </a:r>
          </a:p>
        </p:txBody>
      </p:sp>
    </p:spTree>
    <p:extLst>
      <p:ext uri="{BB962C8B-B14F-4D97-AF65-F5344CB8AC3E}">
        <p14:creationId xmlns:p14="http://schemas.microsoft.com/office/powerpoint/2010/main" val="41809423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1D3C4D-8696-9F15-F9F1-C79A03BB9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153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5C0208B0-9199-F884-348A-E1B7743A6CCD}"/>
              </a:ext>
            </a:extLst>
          </p:cNvPr>
          <p:cNvSpPr txBox="1"/>
          <p:nvPr/>
        </p:nvSpPr>
        <p:spPr>
          <a:xfrm>
            <a:off x="205292" y="81644"/>
            <a:ext cx="5493300" cy="465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6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3499B-340D-52BC-88BE-41241EA37377}"/>
              </a:ext>
            </a:extLst>
          </p:cNvPr>
          <p:cNvSpPr txBox="1"/>
          <p:nvPr/>
        </p:nvSpPr>
        <p:spPr>
          <a:xfrm>
            <a:off x="205292" y="795331"/>
            <a:ext cx="7689572" cy="33885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benchmark is more realistic for testing AI agents in real-world physical environments?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AGENTIF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0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FieldWorkArena 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Both equally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Neither</a:t>
            </a:r>
          </a:p>
        </p:txBody>
      </p:sp>
    </p:spTree>
    <p:extLst>
      <p:ext uri="{BB962C8B-B14F-4D97-AF65-F5344CB8AC3E}">
        <p14:creationId xmlns:p14="http://schemas.microsoft.com/office/powerpoint/2010/main" val="398552667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9508EB8-85F2-D21D-4468-119773F36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58A3F5BF-EF21-3CE4-11AD-F9FC1F42DD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AE24DD65-F1D6-CBCB-5EDA-3A37CCD9D022}"/>
              </a:ext>
            </a:extLst>
          </p:cNvPr>
          <p:cNvSpPr txBox="1"/>
          <p:nvPr/>
        </p:nvSpPr>
        <p:spPr>
          <a:xfrm>
            <a:off x="465363" y="994296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33C668A1-ADCA-07BB-A355-A0A0E26B2B2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6E0F1-65D0-555F-D095-2E4180F814BC}"/>
              </a:ext>
            </a:extLst>
          </p:cNvPr>
          <p:cNvSpPr txBox="1"/>
          <p:nvPr/>
        </p:nvSpPr>
        <p:spPr>
          <a:xfrm>
            <a:off x="465363" y="532631"/>
            <a:ext cx="8059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VI: Synthesis — Gap Mining &amp; Application Mapping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5A607B-BF83-0033-AEC7-5CCB6C6139D9}"/>
              </a:ext>
            </a:extLst>
          </p:cNvPr>
          <p:cNvSpPr txBox="1"/>
          <p:nvPr/>
        </p:nvSpPr>
        <p:spPr>
          <a:xfrm>
            <a:off x="693964" y="1317461"/>
            <a:ext cx="680084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 of This Section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Combine insights from both papers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Identify common failures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Convert failures → gaps → experiments → applications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16275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668B070B-8259-8028-E9BC-F16D3C69D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4E6A3C6-4CBE-006D-C65D-5910EC7DE9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938B61B-CE45-F659-3522-11E25FA05345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1E02245E-C3F9-3DC3-B20E-156CED99BDB3}"/>
              </a:ext>
            </a:extLst>
          </p:cNvPr>
          <p:cNvSpPr txBox="1"/>
          <p:nvPr/>
        </p:nvSpPr>
        <p:spPr>
          <a:xfrm>
            <a:off x="457491" y="124351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4F1AF-EC51-0D31-B804-A08A1319CCF8}"/>
              </a:ext>
            </a:extLst>
          </p:cNvPr>
          <p:cNvSpPr txBox="1"/>
          <p:nvPr/>
        </p:nvSpPr>
        <p:spPr>
          <a:xfrm>
            <a:off x="400050" y="352297"/>
            <a:ext cx="6609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Common Problems in Both Papers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E53981-DD8B-FB7B-7F63-3748096424A5}"/>
              </a:ext>
            </a:extLst>
          </p:cNvPr>
          <p:cNvSpPr txBox="1"/>
          <p:nvPr/>
        </p:nvSpPr>
        <p:spPr>
          <a:xfrm>
            <a:off x="619125" y="850113"/>
            <a:ext cx="81153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struggle with: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Long tasks, forgetting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Skipping steps, Repeating steps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Wrong tool choice, Misunderstanding instructions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No recovery from mistakes, no human help-seeking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Core Insight: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Agents are </a:t>
            </a:r>
            <a:r>
              <a:rPr lang="en-US" sz="18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 stable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on long, real tasks.</a:t>
            </a:r>
          </a:p>
        </p:txBody>
      </p:sp>
    </p:spTree>
    <p:extLst>
      <p:ext uri="{BB962C8B-B14F-4D97-AF65-F5344CB8AC3E}">
        <p14:creationId xmlns:p14="http://schemas.microsoft.com/office/powerpoint/2010/main" val="304340452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D6AB3FB-53A0-3641-1419-57E1D9607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5CD76D1-05DB-74C5-627A-48C7729151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6FC3BFD3-69A1-97BF-14F0-F743394958BF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9DF116D-4391-DCDE-6C8A-C3207086540E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1CB31-7C25-A280-33F0-9573C1449D4F}"/>
              </a:ext>
            </a:extLst>
          </p:cNvPr>
          <p:cNvSpPr txBox="1"/>
          <p:nvPr/>
        </p:nvSpPr>
        <p:spPr>
          <a:xfrm>
            <a:off x="595993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3AEA66-A97C-4913-2796-5A9F005EC5E2}"/>
              </a:ext>
            </a:extLst>
          </p:cNvPr>
          <p:cNvSpPr txBox="1"/>
          <p:nvPr/>
        </p:nvSpPr>
        <p:spPr>
          <a:xfrm>
            <a:off x="595992" y="1191806"/>
            <a:ext cx="7421045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→ Experiment → Application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convert every failure into: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research gap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simple experiment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A real-world domain</a:t>
            </a:r>
          </a:p>
        </p:txBody>
      </p:sp>
    </p:spTree>
    <p:extLst>
      <p:ext uri="{BB962C8B-B14F-4D97-AF65-F5344CB8AC3E}">
        <p14:creationId xmlns:p14="http://schemas.microsoft.com/office/powerpoint/2010/main" val="355360527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5053BB02-FAC7-5062-AA38-3440161E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5F01EA-679B-008C-7E31-04E5371BD2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64295AC5-9D22-BF00-4CAC-F930034F73FB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D36F6CD2-D79F-18E5-44C5-A4C39CB889E9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4B677A-3B58-B14E-2F3D-1701F36CB7BB}"/>
              </a:ext>
            </a:extLst>
          </p:cNvPr>
          <p:cNvSpPr txBox="1"/>
          <p:nvPr/>
        </p:nvSpPr>
        <p:spPr>
          <a:xfrm>
            <a:off x="612322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1: Stability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3660B-0555-E63F-87AA-D82A39753ADA}"/>
              </a:ext>
            </a:extLst>
          </p:cNvPr>
          <p:cNvSpPr txBox="1"/>
          <p:nvPr/>
        </p:nvSpPr>
        <p:spPr>
          <a:xfrm>
            <a:off x="612322" y="1005632"/>
            <a:ext cx="7502978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lose accuracy in long tasks.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 tasks (20–50 steps), measure breakdown points.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Office workflows, form filling, support tickets.</a:t>
            </a:r>
          </a:p>
        </p:txBody>
      </p:sp>
    </p:spTree>
    <p:extLst>
      <p:ext uri="{BB962C8B-B14F-4D97-AF65-F5344CB8AC3E}">
        <p14:creationId xmlns:p14="http://schemas.microsoft.com/office/powerpoint/2010/main" val="421377892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EB9B74AA-CC79-D5B0-87D0-C3D9AD6DC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D90DE8F6-BCE4-8EFF-B25D-42A628908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F6EA8DFC-0BEE-0337-CD74-346AB390F188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B4D60786-1E79-6802-99C8-E86B4F2B751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AB1BE2-D23A-B536-197C-4E15706F4EAA}"/>
              </a:ext>
            </a:extLst>
          </p:cNvPr>
          <p:cNvSpPr txBox="1"/>
          <p:nvPr/>
        </p:nvSpPr>
        <p:spPr>
          <a:xfrm>
            <a:off x="636814" y="35229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2: Long-Horizon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752A7-E710-6146-B4DF-FC7D8F6F1308}"/>
              </a:ext>
            </a:extLst>
          </p:cNvPr>
          <p:cNvSpPr txBox="1"/>
          <p:nvPr/>
        </p:nvSpPr>
        <p:spPr>
          <a:xfrm>
            <a:off x="734785" y="1023186"/>
            <a:ext cx="7625443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cannot plan across multiple stages.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 with 3–5 stages, test stage-to-stage linkage.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Scientific discovery, logistics, audits.</a:t>
            </a:r>
          </a:p>
        </p:txBody>
      </p:sp>
    </p:spTree>
    <p:extLst>
      <p:ext uri="{BB962C8B-B14F-4D97-AF65-F5344CB8AC3E}">
        <p14:creationId xmlns:p14="http://schemas.microsoft.com/office/powerpoint/2010/main" val="30604660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16A4E6E6-ECD7-D923-0B3D-F25722BE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D2E40EF-CD96-2727-245C-5CFE5141B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D4F020BC-D6C8-FBB6-6228-29EBA2562B9D}"/>
              </a:ext>
            </a:extLst>
          </p:cNvPr>
          <p:cNvSpPr txBox="1"/>
          <p:nvPr/>
        </p:nvSpPr>
        <p:spPr>
          <a:xfrm>
            <a:off x="841212" y="1556087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A89A6E98-F11D-9DD9-9FA5-B9F4FC50306D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F1FC4-D844-374C-34F0-3EA12A52ACC5}"/>
              </a:ext>
            </a:extLst>
          </p:cNvPr>
          <p:cNvSpPr txBox="1"/>
          <p:nvPr/>
        </p:nvSpPr>
        <p:spPr>
          <a:xfrm>
            <a:off x="530679" y="36862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3: Tool Reliability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7FA014-0F2E-506B-B9AB-48F9F5F02C45}"/>
              </a:ext>
            </a:extLst>
          </p:cNvPr>
          <p:cNvSpPr txBox="1"/>
          <p:nvPr/>
        </p:nvSpPr>
        <p:spPr>
          <a:xfrm>
            <a:off x="530679" y="1046748"/>
            <a:ext cx="7486359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Wrong tool selection or wrong timing.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Multi-tool tasks → measure correct tool choices.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 systems, factory tools, data entry.</a:t>
            </a:r>
          </a:p>
        </p:txBody>
      </p:sp>
    </p:spTree>
    <p:extLst>
      <p:ext uri="{BB962C8B-B14F-4D97-AF65-F5344CB8AC3E}">
        <p14:creationId xmlns:p14="http://schemas.microsoft.com/office/powerpoint/2010/main" val="34320229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CF5D5BA-F0F0-D80A-69EA-508D7695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73DF2F38-CACB-E908-C81C-6218CF4D70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4D7CC2DB-1461-9B6D-AB04-CA85065CD59F}"/>
              </a:ext>
            </a:extLst>
          </p:cNvPr>
          <p:cNvSpPr txBox="1"/>
          <p:nvPr/>
        </p:nvSpPr>
        <p:spPr>
          <a:xfrm>
            <a:off x="1004498" y="133016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8FBA1C7-66B7-888F-4285-9A4B217F3384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F03AB-29FB-FFCD-AF0F-798B7FDBE5E1}"/>
              </a:ext>
            </a:extLst>
          </p:cNvPr>
          <p:cNvSpPr txBox="1"/>
          <p:nvPr/>
        </p:nvSpPr>
        <p:spPr>
          <a:xfrm>
            <a:off x="579664" y="447893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 4: Human Oversight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12120-7759-3E2B-2AFD-BFE4CF03FE1B}"/>
              </a:ext>
            </a:extLst>
          </p:cNvPr>
          <p:cNvSpPr txBox="1"/>
          <p:nvPr/>
        </p:nvSpPr>
        <p:spPr>
          <a:xfrm>
            <a:off x="619125" y="909558"/>
            <a:ext cx="7177768" cy="1665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Gap:               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 do not ask for help when unsure.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Experiment: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Tasks requiring clarification prompts.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Applications:        </a:t>
            </a: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Healthcare triage, safety checks, legal workflows.</a:t>
            </a:r>
          </a:p>
        </p:txBody>
      </p:sp>
    </p:spTree>
    <p:extLst>
      <p:ext uri="{BB962C8B-B14F-4D97-AF65-F5344CB8AC3E}">
        <p14:creationId xmlns:p14="http://schemas.microsoft.com/office/powerpoint/2010/main" val="3728922010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0861D53-932B-7D9E-E517-9413FD0C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EC40C66-93E0-D3CA-4CB6-F59C4AACD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3B48B2DE-0B7F-DD44-A2CC-086969D13559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954BC81A-EDF8-066F-909D-352FE67075FC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42AAF-5676-B844-AE2F-E3F3A82F159F}"/>
              </a:ext>
            </a:extLst>
          </p:cNvPr>
          <p:cNvSpPr txBox="1"/>
          <p:nvPr/>
        </p:nvSpPr>
        <p:spPr>
          <a:xfrm>
            <a:off x="530679" y="37679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These Gaps Matter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174DE-2653-4C34-5108-4A7B698668BE}"/>
              </a:ext>
            </a:extLst>
          </p:cNvPr>
          <p:cNvSpPr txBox="1"/>
          <p:nvPr/>
        </p:nvSpPr>
        <p:spPr>
          <a:xfrm>
            <a:off x="595993" y="1030470"/>
            <a:ext cx="7192736" cy="277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Because agents must be: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Stable, Safe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Sequentially correct, Tool-aware, Human-guided</a:t>
            </a: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Otherwise: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No automation, No safety, No reliability</a:t>
            </a:r>
          </a:p>
        </p:txBody>
      </p:sp>
    </p:spTree>
    <p:extLst>
      <p:ext uri="{BB962C8B-B14F-4D97-AF65-F5344CB8AC3E}">
        <p14:creationId xmlns:p14="http://schemas.microsoft.com/office/powerpoint/2010/main" val="322864565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640AD31-D738-3FEF-ED70-FFB922133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B3CCF7A-962E-20AD-D883-C628112A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E6B1CFD5-1E6E-9E8D-4B35-0B72B85A0ACC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4DD6BC0C-6260-0D40-E6E6-95D3AB04F692}"/>
              </a:ext>
            </a:extLst>
          </p:cNvPr>
          <p:cNvSpPr txBox="1"/>
          <p:nvPr/>
        </p:nvSpPr>
        <p:spPr>
          <a:xfrm>
            <a:off x="204398" y="524393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E01606-B8A2-6FA7-F3F4-6736F2B07E71}"/>
              </a:ext>
            </a:extLst>
          </p:cNvPr>
          <p:cNvSpPr txBox="1"/>
          <p:nvPr/>
        </p:nvSpPr>
        <p:spPr>
          <a:xfrm>
            <a:off x="604157" y="21661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Domain Mapping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DA09E-EC00-E357-AC0A-E67A4327F254}"/>
              </a:ext>
            </a:extLst>
          </p:cNvPr>
          <p:cNvSpPr txBox="1"/>
          <p:nvPr/>
        </p:nvSpPr>
        <p:spPr>
          <a:xfrm>
            <a:off x="689185" y="813050"/>
            <a:ext cx="64416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Scientific Discovery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Needs long planning + accuracy + stability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Healthcare Triage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Needs safety + oversight + correct tools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Enterprise Workflows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Needs memory + sequencing + tool reliability</a:t>
            </a:r>
          </a:p>
        </p:txBody>
      </p:sp>
    </p:spTree>
    <p:extLst>
      <p:ext uri="{BB962C8B-B14F-4D97-AF65-F5344CB8AC3E}">
        <p14:creationId xmlns:p14="http://schemas.microsoft.com/office/powerpoint/2010/main" val="110371732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C6B353A2-91E4-631A-E7E0-929BBC784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19E58CD-2E34-2949-FC54-A8F7923107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674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45">
            <a:extLst>
              <a:ext uri="{FF2B5EF4-FFF2-40B4-BE49-F238E27FC236}">
                <a16:creationId xmlns:a16="http://schemas.microsoft.com/office/drawing/2014/main" id="{B211398A-BD65-26C6-D091-FD2F386E0C98}"/>
              </a:ext>
            </a:extLst>
          </p:cNvPr>
          <p:cNvSpPr txBox="1"/>
          <p:nvPr/>
        </p:nvSpPr>
        <p:spPr>
          <a:xfrm>
            <a:off x="1126962" y="1507524"/>
            <a:ext cx="55660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5">
            <a:extLst>
              <a:ext uri="{FF2B5EF4-FFF2-40B4-BE49-F238E27FC236}">
                <a16:creationId xmlns:a16="http://schemas.microsoft.com/office/drawing/2014/main" id="{E094DCC3-419B-D509-61A7-E2B2A234EFFF}"/>
              </a:ext>
            </a:extLst>
          </p:cNvPr>
          <p:cNvSpPr txBox="1"/>
          <p:nvPr/>
        </p:nvSpPr>
        <p:spPr>
          <a:xfrm>
            <a:off x="1126962" y="2361357"/>
            <a:ext cx="655176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04934-CC3B-4EC3-4DD4-9D1B851DDEDC}"/>
              </a:ext>
            </a:extLst>
          </p:cNvPr>
          <p:cNvSpPr txBox="1"/>
          <p:nvPr/>
        </p:nvSpPr>
        <p:spPr>
          <a:xfrm>
            <a:off x="604157" y="2940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AA20A-1688-C22F-60BF-364C081B0768}"/>
              </a:ext>
            </a:extLst>
          </p:cNvPr>
          <p:cNvSpPr txBox="1"/>
          <p:nvPr/>
        </p:nvSpPr>
        <p:spPr>
          <a:xfrm>
            <a:off x="619125" y="860537"/>
            <a:ext cx="7977868" cy="3880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AGENTIF → Digital failures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FieldWorkArena → Physical-world failures</a:t>
            </a:r>
            <a:endParaRPr lang="en-IN" sz="18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Both reveal the same gaps: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Stability, Long-horizon reasoning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Tool reliability, Human oversight</a:t>
            </a:r>
          </a:p>
          <a:p>
            <a:pPr>
              <a:lnSpc>
                <a:spcPct val="200000"/>
              </a:lnSpc>
              <a:buNone/>
            </a:pPr>
            <a:r>
              <a:rPr lang="en-IN" sz="18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Outcome:</a:t>
            </a:r>
            <a:b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IN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Gaps → Experiments → Applications → Real research direction</a:t>
            </a:r>
          </a:p>
        </p:txBody>
      </p:sp>
    </p:spTree>
    <p:extLst>
      <p:ext uri="{BB962C8B-B14F-4D97-AF65-F5344CB8AC3E}">
        <p14:creationId xmlns:p14="http://schemas.microsoft.com/office/powerpoint/2010/main" val="842757273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E0A5B4-363C-3E2F-76A4-E6FE3AA92F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164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45030031-7BF4-7FDC-B1DB-9A2762A60CE7}"/>
              </a:ext>
            </a:extLst>
          </p:cNvPr>
          <p:cNvSpPr txBox="1"/>
          <p:nvPr/>
        </p:nvSpPr>
        <p:spPr>
          <a:xfrm>
            <a:off x="342395" y="193507"/>
            <a:ext cx="6776862" cy="557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7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69361-E036-43F0-6799-F0F80A44D247}"/>
              </a:ext>
            </a:extLst>
          </p:cNvPr>
          <p:cNvSpPr txBox="1"/>
          <p:nvPr/>
        </p:nvSpPr>
        <p:spPr>
          <a:xfrm>
            <a:off x="342395" y="992417"/>
            <a:ext cx="8285844" cy="332700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gap is the MOST important blocker for deploying AI agents in real-world tasks across both AGENTIF and FieldWorkArena?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Agents skip or repeat steps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Agents make spelling mistakes in outputs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  Agents refuse to answer simple questions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Agents generate long responses instead of short ones</a:t>
            </a:r>
          </a:p>
        </p:txBody>
      </p:sp>
    </p:spTree>
    <p:extLst>
      <p:ext uri="{BB962C8B-B14F-4D97-AF65-F5344CB8AC3E}">
        <p14:creationId xmlns:p14="http://schemas.microsoft.com/office/powerpoint/2010/main" val="1590470943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D9CE7F-3437-E687-40B2-67E105C2A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27C6772F-5C15-3160-DEA7-A1B3DB8D3AD7}"/>
              </a:ext>
            </a:extLst>
          </p:cNvPr>
          <p:cNvSpPr txBox="1"/>
          <p:nvPr/>
        </p:nvSpPr>
        <p:spPr>
          <a:xfrm>
            <a:off x="279419" y="244583"/>
            <a:ext cx="5493300" cy="571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7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F8E24-5D2F-F55E-B50C-D733DF6C1D97}"/>
              </a:ext>
            </a:extLst>
          </p:cNvPr>
          <p:cNvSpPr txBox="1"/>
          <p:nvPr/>
        </p:nvSpPr>
        <p:spPr>
          <a:xfrm>
            <a:off x="279419" y="1123964"/>
            <a:ext cx="8250441" cy="22190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✅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Correct Answer: A — Agents skip or repeat steps</a:t>
            </a:r>
            <a:endParaRPr lang="en-US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this is correct: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Skipping or repeating steps shows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instability in long tasks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which both papers highlight as the #1 reason agents fail in real-world workflows.</a:t>
            </a:r>
          </a:p>
        </p:txBody>
      </p:sp>
    </p:spTree>
    <p:extLst>
      <p:ext uri="{BB962C8B-B14F-4D97-AF65-F5344CB8AC3E}">
        <p14:creationId xmlns:p14="http://schemas.microsoft.com/office/powerpoint/2010/main" val="269730241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6815F896-CD9C-B66D-B5DB-181FFFF0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BE409FF-1099-8490-EB69-830604854E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166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2F92D-608C-DDEC-9298-69898B7FD6A5}"/>
              </a:ext>
            </a:extLst>
          </p:cNvPr>
          <p:cNvSpPr txBox="1"/>
          <p:nvPr/>
        </p:nvSpPr>
        <p:spPr>
          <a:xfrm>
            <a:off x="620486" y="1474212"/>
            <a:ext cx="8066314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 VII — WRAP-UP &amp; NEXT STEPS</a:t>
            </a:r>
            <a:endParaRPr lang="en-US" sz="2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just">
              <a:buNone/>
            </a:pPr>
            <a:br>
              <a:rPr lang="en-U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Bringing all insights together + preparing for real research thinking</a:t>
            </a:r>
          </a:p>
        </p:txBody>
      </p:sp>
    </p:spTree>
    <p:extLst>
      <p:ext uri="{BB962C8B-B14F-4D97-AF65-F5344CB8AC3E}">
        <p14:creationId xmlns:p14="http://schemas.microsoft.com/office/powerpoint/2010/main" val="212153615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F18983D1-A1FF-B2EB-9609-866B1D8C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051B1444-9CE2-3695-2381-69E517F83E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167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026F-50D1-2AC7-A31E-3DFDCFBBC5A0}"/>
              </a:ext>
            </a:extLst>
          </p:cNvPr>
          <p:cNvSpPr txBox="1"/>
          <p:nvPr/>
        </p:nvSpPr>
        <p:spPr>
          <a:xfrm>
            <a:off x="342900" y="14540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Group Sharing: Two Things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528E3-EF67-F3E2-D50E-C5A5128F1E0E}"/>
              </a:ext>
            </a:extLst>
          </p:cNvPr>
          <p:cNvSpPr txBox="1"/>
          <p:nvPr/>
        </p:nvSpPr>
        <p:spPr>
          <a:xfrm>
            <a:off x="571498" y="708503"/>
            <a:ext cx="7666265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Each Group Shares: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1️⃣        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Key Insight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(most important learning)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2️⃣         </a:t>
            </a: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One Research Gap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(what the papers did NOT solve)</a:t>
            </a:r>
          </a:p>
          <a:p>
            <a:pPr>
              <a:lnSpc>
                <a:spcPct val="200000"/>
              </a:lnSpc>
              <a:buNone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Format: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One sentence each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 Clear &amp; simple</a:t>
            </a:r>
          </a:p>
        </p:txBody>
      </p:sp>
    </p:spTree>
    <p:extLst>
      <p:ext uri="{BB962C8B-B14F-4D97-AF65-F5344CB8AC3E}">
        <p14:creationId xmlns:p14="http://schemas.microsoft.com/office/powerpoint/2010/main" val="416146152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E70C49F1-34D6-4936-5C94-E609D76F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9B814C7-A5E8-BF44-8439-9B27D7FB19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168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50851-7117-441D-11B6-1D7BB2B766B1}"/>
              </a:ext>
            </a:extLst>
          </p:cNvPr>
          <p:cNvSpPr txBox="1"/>
          <p:nvPr/>
        </p:nvSpPr>
        <p:spPr>
          <a:xfrm>
            <a:off x="367393" y="102393"/>
            <a:ext cx="64906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1 — Check Claims vs Evidence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95148-59CE-4070-B222-CCCDABA44A9A}"/>
              </a:ext>
            </a:extLst>
          </p:cNvPr>
          <p:cNvSpPr txBox="1"/>
          <p:nvPr/>
        </p:nvSpPr>
        <p:spPr>
          <a:xfrm>
            <a:off x="612321" y="886383"/>
            <a:ext cx="4572000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Questions to ask: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Do results support the claims?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Are claims exaggerated?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Is the evidence strong or weak?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0506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F077566-BF05-43AA-E2EC-5205C6521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2EE220-71FE-0981-B70E-4949EAC6FC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169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2DB2D3-82E3-B1B2-C454-BC43471AC10E}"/>
              </a:ext>
            </a:extLst>
          </p:cNvPr>
          <p:cNvSpPr txBox="1"/>
          <p:nvPr/>
        </p:nvSpPr>
        <p:spPr>
          <a:xfrm>
            <a:off x="481693" y="102393"/>
            <a:ext cx="6629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2 — Evaluate Experiment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D832D-ED1C-0ADD-93FC-74A20DCB74F1}"/>
              </a:ext>
            </a:extLst>
          </p:cNvPr>
          <p:cNvSpPr txBox="1"/>
          <p:nvPr/>
        </p:nvSpPr>
        <p:spPr>
          <a:xfrm>
            <a:off x="612321" y="760746"/>
            <a:ext cx="4572000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Ignore the pretty figures — focus on: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Is the problem clear?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tasks realistic?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baselines fair?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Are metrics appropriate?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Is failure analysis included?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247564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5DBC9BAC-668E-90C3-372D-73C4B8A9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DEE7995F-ABAC-17FC-861B-65A4C02DB7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170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BC12F-4825-CAEE-D1D3-485B9B824D1E}"/>
              </a:ext>
            </a:extLst>
          </p:cNvPr>
          <p:cNvSpPr txBox="1"/>
          <p:nvPr/>
        </p:nvSpPr>
        <p:spPr>
          <a:xfrm>
            <a:off x="351064" y="102393"/>
            <a:ext cx="6841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Principle 3 — Look for Gaps, Not Just Successes</a:t>
            </a:r>
            <a:endParaRPr lang="en-IN" sz="2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DA5E2-211E-4CEE-21EC-FF18A30FFFB2}"/>
              </a:ext>
            </a:extLst>
          </p:cNvPr>
          <p:cNvSpPr txBox="1"/>
          <p:nvPr/>
        </p:nvSpPr>
        <p:spPr>
          <a:xfrm>
            <a:off x="563335" y="870055"/>
            <a:ext cx="6629399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Good research =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finding what didn’t work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spotting weaknesses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turning failures into new ideas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8095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716E6833-3424-1988-731F-1D6C0462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24171C2E-F8B4-8216-0F0B-6AA1D8EDFB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171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ACCB4-2D49-6705-9045-6B2357CC67E3}"/>
              </a:ext>
            </a:extLst>
          </p:cNvPr>
          <p:cNvSpPr txBox="1"/>
          <p:nvPr/>
        </p:nvSpPr>
        <p:spPr>
          <a:xfrm>
            <a:off x="440872" y="747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Why Today’s Learning Matters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CE3F6-809E-0BE8-5BFF-E7443A3A4DD3}"/>
              </a:ext>
            </a:extLst>
          </p:cNvPr>
          <p:cNvSpPr txBox="1"/>
          <p:nvPr/>
        </p:nvSpPr>
        <p:spPr>
          <a:xfrm>
            <a:off x="506185" y="920859"/>
            <a:ext cx="6784521" cy="332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 now know how to: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break a paper into parts; analyze an agent loop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judge experimental setups; inspect metrics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identify hidden limitations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compare two papers</a:t>
            </a:r>
            <a:b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turn gaps into research ideas</a:t>
            </a:r>
            <a:endParaRPr lang="en-IN" sz="1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28038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AD0C2DAC-371C-312D-8545-F0A4F7801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F3DC53F2-29F7-697F-7244-5910BF6D9D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172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9DD48-C3CC-5FFF-62E4-8544080F5F09}"/>
              </a:ext>
            </a:extLst>
          </p:cNvPr>
          <p:cNvSpPr txBox="1"/>
          <p:nvPr/>
        </p:nvSpPr>
        <p:spPr>
          <a:xfrm>
            <a:off x="449035" y="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Post-Class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42B39-A2FA-DD26-46ED-A3E2ED59983C}"/>
              </a:ext>
            </a:extLst>
          </p:cNvPr>
          <p:cNvSpPr txBox="1"/>
          <p:nvPr/>
        </p:nvSpPr>
        <p:spPr>
          <a:xfrm>
            <a:off x="530678" y="754402"/>
            <a:ext cx="7094765" cy="390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Choose One Paper (AGENTIF or FieldWorkArena).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Then pick ONE: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 A — Short Mini-Survey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 Find 2–3 similar papers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 Identify shared gaps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Explain why they matter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Option B — Propose a Simple Experiment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Pick one gap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Describe experiment</a:t>
            </a:r>
            <a:b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•        Explain expected insight</a:t>
            </a:r>
          </a:p>
        </p:txBody>
      </p:sp>
    </p:spTree>
    <p:extLst>
      <p:ext uri="{BB962C8B-B14F-4D97-AF65-F5344CB8AC3E}">
        <p14:creationId xmlns:p14="http://schemas.microsoft.com/office/powerpoint/2010/main" val="2674079639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>
          <a:extLst>
            <a:ext uri="{FF2B5EF4-FFF2-40B4-BE49-F238E27FC236}">
              <a16:creationId xmlns:a16="http://schemas.microsoft.com/office/drawing/2014/main" id="{2EA3279A-A4DA-D6CE-842A-9851F933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1">
            <a:extLst>
              <a:ext uri="{FF2B5EF4-FFF2-40B4-BE49-F238E27FC236}">
                <a16:creationId xmlns:a16="http://schemas.microsoft.com/office/drawing/2014/main" id="{56D4F16D-2BD2-6EEE-CF35-7A1441A44D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173</a:t>
            </a:fld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01085-9EA0-AFDB-5F63-7DA906FF7D21}"/>
              </a:ext>
            </a:extLst>
          </p:cNvPr>
          <p:cNvSpPr txBox="1"/>
          <p:nvPr/>
        </p:nvSpPr>
        <p:spPr>
          <a:xfrm>
            <a:off x="457201" y="992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Final Closing Message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42BD5-E2AD-DF90-0E16-62953DD886EC}"/>
              </a:ext>
            </a:extLst>
          </p:cNvPr>
          <p:cNvSpPr txBox="1"/>
          <p:nvPr/>
        </p:nvSpPr>
        <p:spPr>
          <a:xfrm>
            <a:off x="551089" y="1031753"/>
            <a:ext cx="8041821" cy="221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Big Takeaway: 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Learning to </a:t>
            </a:r>
            <a:r>
              <a:rPr lang="en-US" sz="18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evaluate</a:t>
            </a: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agent papers is the skill that separates readers from researchers.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Future of agents = digital + real-world workflows.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Your job is to judge, question, and design better agents.</a:t>
            </a:r>
          </a:p>
        </p:txBody>
      </p:sp>
    </p:spTree>
    <p:extLst>
      <p:ext uri="{BB962C8B-B14F-4D97-AF65-F5344CB8AC3E}">
        <p14:creationId xmlns:p14="http://schemas.microsoft.com/office/powerpoint/2010/main" val="2019396506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EFA9D-FF27-785B-0E15-1BD47892D2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9D93F-1EEE-0303-AFD4-7C06710A3391}"/>
              </a:ext>
            </a:extLst>
          </p:cNvPr>
          <p:cNvSpPr txBox="1"/>
          <p:nvPr/>
        </p:nvSpPr>
        <p:spPr>
          <a:xfrm>
            <a:off x="397399" y="841725"/>
            <a:ext cx="8349201" cy="346005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of the following is the MOST important principle when evaluating an agentic AI research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How visually appealing the figures, diagrams, and charts look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Whether the paper proposes a completely new architecture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Whether the experiment design, metrics, and evidence actually support the paper’s claims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How long the paper is and how many authors worked on it</a:t>
            </a:r>
          </a:p>
        </p:txBody>
      </p:sp>
      <p:sp>
        <p:nvSpPr>
          <p:cNvPr id="737" name="Google Shape;737;p43"/>
          <p:cNvSpPr txBox="1"/>
          <p:nvPr/>
        </p:nvSpPr>
        <p:spPr>
          <a:xfrm>
            <a:off x="239628" y="106136"/>
            <a:ext cx="5493300" cy="4479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8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0574901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8B88DC-AB8E-AA88-7A2A-284CA3EB91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175</a:t>
            </a:fld>
            <a:endParaRPr lang="en-IN"/>
          </a:p>
        </p:txBody>
      </p:sp>
      <p:sp>
        <p:nvSpPr>
          <p:cNvPr id="737" name="Google Shape;737;p43">
            <a:extLst>
              <a:ext uri="{FF2B5EF4-FFF2-40B4-BE49-F238E27FC236}">
                <a16:creationId xmlns:a16="http://schemas.microsoft.com/office/drawing/2014/main" id="{00C4ADDC-827F-9A2C-34CA-D2D37D93F172}"/>
              </a:ext>
            </a:extLst>
          </p:cNvPr>
          <p:cNvSpPr txBox="1"/>
          <p:nvPr/>
        </p:nvSpPr>
        <p:spPr>
          <a:xfrm>
            <a:off x="187273" y="89807"/>
            <a:ext cx="5493300" cy="514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5333F"/>
              </a:buClr>
              <a:buSzPts val="3600"/>
              <a:buFont typeface="Proxima Nova"/>
              <a:buNone/>
            </a:pPr>
            <a:r>
              <a:rPr lang="en-IN" sz="3600" b="1" dirty="0">
                <a:solidFill>
                  <a:srgbClr val="F5333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Proxima Nova"/>
              </a:rPr>
              <a:t>Poll 8 (Answer)</a:t>
            </a:r>
            <a:endParaRPr sz="3600" b="1" dirty="0">
              <a:solidFill>
                <a:srgbClr val="F5333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Proxima Nov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F5908-CFCF-0A44-466E-7E0634160FAF}"/>
              </a:ext>
            </a:extLst>
          </p:cNvPr>
          <p:cNvSpPr txBox="1"/>
          <p:nvPr/>
        </p:nvSpPr>
        <p:spPr>
          <a:xfrm>
            <a:off x="187273" y="780170"/>
            <a:ext cx="8585964" cy="35831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16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Question: Which of the following is the MOST important principle when evaluating an agentic AI research paper?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lnSpc>
                <a:spcPct val="200000"/>
              </a:lnSpc>
              <a:buNone/>
            </a:pP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A.        How visually appealing the figures, diagrams, and charts look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B.        Whether the paper proposes a completely new architecture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800" b="1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C.      Whether the experiment design, metrics, and evidence actually support the paper’s claims</a:t>
            </a:r>
            <a:b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D.       How long the paper is and how many authors worked on it</a:t>
            </a:r>
          </a:p>
        </p:txBody>
      </p:sp>
    </p:spTree>
    <p:extLst>
      <p:ext uri="{BB962C8B-B14F-4D97-AF65-F5344CB8AC3E}">
        <p14:creationId xmlns:p14="http://schemas.microsoft.com/office/powerpoint/2010/main" val="126527706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/>
        </p:nvSpPr>
        <p:spPr>
          <a:xfrm>
            <a:off x="555037" y="2114911"/>
            <a:ext cx="6895272" cy="117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roxima Nova"/>
              <a:buNone/>
            </a:pPr>
            <a:r>
              <a:rPr lang="en-IN" sz="4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sz="4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788" name="Google Shape;78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370" y="0"/>
            <a:ext cx="1356542" cy="1577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47"/>
          <p:cNvSpPr txBox="1"/>
          <p:nvPr/>
        </p:nvSpPr>
        <p:spPr>
          <a:xfrm>
            <a:off x="1157111" y="716037"/>
            <a:ext cx="1655704" cy="131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1" name="Google Shape;791;p47"/>
          <p:cNvSpPr txBox="1">
            <a:spLocks noGrp="1"/>
          </p:cNvSpPr>
          <p:nvPr>
            <p:ph type="sldNum" idx="12"/>
          </p:nvPr>
        </p:nvSpPr>
        <p:spPr>
          <a:xfrm>
            <a:off x="6616976" y="401240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_UPGRAD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</TotalTime>
  <Words>4350</Words>
  <Application>Microsoft Office PowerPoint</Application>
  <PresentationFormat>On-screen Show (16:9)</PresentationFormat>
  <Paragraphs>601</Paragraphs>
  <Slides>176</Slides>
  <Notes>77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176</vt:i4>
      </vt:variant>
    </vt:vector>
  </HeadingPairs>
  <TitlesOfParts>
    <vt:vector size="183" baseType="lpstr">
      <vt:lpstr>Proxima Nova</vt:lpstr>
      <vt:lpstr>Calibri</vt:lpstr>
      <vt:lpstr>Lato</vt:lpstr>
      <vt:lpstr>Arial</vt:lpstr>
      <vt:lpstr>Roboto</vt:lpstr>
      <vt:lpstr>Wingdings</vt:lpstr>
      <vt:lpstr>MASTER_UPGRAD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Before We Begin</vt:lpstr>
      <vt:lpstr>Prerequisites Overview </vt:lpstr>
      <vt:lpstr>What is an LLM? </vt:lpstr>
      <vt:lpstr>LLM in Simple Technical Terms </vt:lpstr>
      <vt:lpstr>What is Prompting? </vt:lpstr>
      <vt:lpstr>Types of Prompts </vt:lpstr>
      <vt:lpstr>What is RAG? </vt:lpstr>
      <vt:lpstr>How RAG Works? </vt:lpstr>
      <vt:lpstr>Why RAG Matters </vt:lpstr>
      <vt:lpstr>What is Tool Calling? </vt:lpstr>
      <vt:lpstr>How Tool Calling Works </vt:lpstr>
      <vt:lpstr>Why Tool Calling is Important </vt:lpstr>
      <vt:lpstr>Prerequisite Summary </vt:lpstr>
      <vt:lpstr>Poll 1 </vt:lpstr>
      <vt:lpstr>Poll 1(Answer)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We Need a Structured Review Rubric</vt:lpstr>
      <vt:lpstr>The Structured Review Framework</vt:lpstr>
      <vt:lpstr>Problem Clarity</vt:lpstr>
      <vt:lpstr>Agent Architecture</vt:lpstr>
      <vt:lpstr>Experimental Setup</vt:lpstr>
      <vt:lpstr>Evaluation Metrics</vt:lpstr>
      <vt:lpstr>Validity of the Results</vt:lpstr>
      <vt:lpstr>Failure Analysis</vt:lpstr>
      <vt:lpstr>Future Work</vt:lpstr>
      <vt:lpstr>Demo: How to Critique a Paper</vt:lpstr>
      <vt:lpstr>How to “Think Like a Reviewer”</vt:lpstr>
      <vt:lpstr>Applying This Rubric to Our Session Papers</vt:lpstr>
      <vt:lpstr>Poll 4</vt:lpstr>
      <vt:lpstr>PowerPoint Presentation</vt:lpstr>
      <vt:lpstr>PowerPoint Presentation</vt:lpstr>
      <vt:lpstr>PowerPoint Presentation</vt:lpstr>
      <vt:lpstr>PowerPoint Presentation</vt:lpstr>
      <vt:lpstr>What AGENTIF Is</vt:lpstr>
      <vt:lpstr>What Problem the Paper Solves</vt:lpstr>
      <vt:lpstr>PowerPoint Presentation</vt:lpstr>
      <vt:lpstr>Abstract</vt:lpstr>
      <vt:lpstr>1. Introduction</vt:lpstr>
      <vt:lpstr>2 Related Work</vt:lpstr>
      <vt:lpstr>3.  AGENTIF Benchmark</vt:lpstr>
      <vt:lpstr>3.1.  Constraint Taxonomy</vt:lpstr>
      <vt:lpstr>3.2.  Constraint Presentation Type</vt:lpstr>
      <vt:lpstr>3.3.  Evaluation Methods</vt:lpstr>
      <vt:lpstr>3.4.  Evaluation Protocol</vt:lpstr>
      <vt:lpstr>4.  Experiments</vt:lpstr>
      <vt:lpstr>4.1.  Experimental Setup</vt:lpstr>
      <vt:lpstr>4.2.  Main Results</vt:lpstr>
      <vt:lpstr>4.3.  Error Analysis</vt:lpstr>
      <vt:lpstr>4.4.   Analysis of Instruction Length and Constraint Quantity</vt:lpstr>
      <vt:lpstr>4.5 Analysis of Meta Constraints </vt:lpstr>
      <vt:lpstr>5.  Conclusion</vt:lpstr>
      <vt:lpstr>Appendix A Limitations</vt:lpstr>
      <vt:lpstr>Appendix B Ethical Considerations</vt:lpstr>
      <vt:lpstr>Appendix C Details of Constraint Taxonomy</vt:lpstr>
      <vt:lpstr>Appendix D Dataset Construction</vt:lpstr>
      <vt:lpstr>Appendix E Experimental Details</vt:lpstr>
      <vt:lpstr>Summary of Appendix-E Tables</vt:lpstr>
      <vt:lpstr>Final Closing 🎯</vt:lpstr>
      <vt:lpstr>PowerPoint Presentation</vt:lpstr>
      <vt:lpstr>Problem Clarity</vt:lpstr>
      <vt:lpstr>Agent Architecture</vt:lpstr>
      <vt:lpstr>Experimental Setup </vt:lpstr>
      <vt:lpstr>Evaluation Metrics</vt:lpstr>
      <vt:lpstr>Validity</vt:lpstr>
      <vt:lpstr>Failure Analysis</vt:lpstr>
      <vt:lpstr>Future Work</vt:lpstr>
      <vt:lpstr>Rubric-Level Conclusion</vt:lpstr>
      <vt:lpstr>3-line method summary</vt:lpstr>
      <vt:lpstr>Strengths</vt:lpstr>
      <vt:lpstr>Weaknesses</vt:lpstr>
      <vt:lpstr>Follow-up experiment idea</vt:lpstr>
      <vt:lpstr>What is directly from the AgentIF paper</vt:lpstr>
      <vt:lpstr>PowerPoint Presentation</vt:lpstr>
      <vt:lpstr>PowerPoint Presentation</vt:lpstr>
      <vt:lpstr>PowerPoint Presentation</vt:lpstr>
      <vt:lpstr>What FieldWorkArena Is</vt:lpstr>
      <vt:lpstr>What Problem the Paper Solves</vt:lpstr>
      <vt:lpstr>PowerPoint Presentation</vt:lpstr>
      <vt:lpstr>Abstract</vt:lpstr>
      <vt:lpstr>1.  Introduction</vt:lpstr>
      <vt:lpstr>2. FieldWorkArena Data Collection</vt:lpstr>
      <vt:lpstr>2.1    Input Data Acquisition</vt:lpstr>
      <vt:lpstr>2.2    Query Generation</vt:lpstr>
      <vt:lpstr>2.3   Annotation</vt:lpstr>
      <vt:lpstr>3   Benchmarking and Evaluation Methodology</vt:lpstr>
      <vt:lpstr>3.1     Definition of Action Space</vt:lpstr>
      <vt:lpstr>3.2  Tasks</vt:lpstr>
      <vt:lpstr>Planning Tasks</vt:lpstr>
      <vt:lpstr>Perception Tasks</vt:lpstr>
      <vt:lpstr>Action Tasks</vt:lpstr>
      <vt:lpstr>Combination Tasks</vt:lpstr>
      <vt:lpstr>3.3   Evaluation Environment</vt:lpstr>
      <vt:lpstr>3.4    Evaluation Method</vt:lpstr>
      <vt:lpstr>4    Experiments</vt:lpstr>
      <vt:lpstr>4.1   Experimental Condition</vt:lpstr>
      <vt:lpstr>4.2   Results</vt:lpstr>
      <vt:lpstr>4.3    Discussion</vt:lpstr>
      <vt:lpstr>5    Related Work</vt:lpstr>
      <vt:lpstr>5.1    Multimodal LLMs</vt:lpstr>
      <vt:lpstr>5.2   LLM Agents for Edge AI</vt:lpstr>
      <vt:lpstr>5.3    Benchmark Suite for Agentic AI</vt:lpstr>
      <vt:lpstr>5.4    Contribution</vt:lpstr>
      <vt:lpstr>6   Conclusion and Future Work</vt:lpstr>
      <vt:lpstr>Step 2 — Apply the Rubric (Guided Walkthrough)</vt:lpstr>
      <vt:lpstr>1.  Problem Clarity — What problem does FieldWorkArena solve?</vt:lpstr>
      <vt:lpstr>2. Agent Architecture — What does the agent look like?</vt:lpstr>
      <vt:lpstr>3.  Experimental Setup — What tasks does FieldWorkArena use?</vt:lpstr>
      <vt:lpstr>4. Evaluation Metrics — How do they score the agent?</vt:lpstr>
      <vt:lpstr>5. Validity — Are results meaningful?</vt:lpstr>
      <vt:lpstr>6. Failure Analysis — Where do agents break?</vt:lpstr>
      <vt:lpstr>7. Future Work — What limitations do authors admit?</vt:lpstr>
      <vt:lpstr>Step 3 — Guide the Groups to Produce Outputs</vt:lpstr>
      <vt:lpstr>Output 1 — 3-Line Summary</vt:lpstr>
      <vt:lpstr>Output 2 — Strengths</vt:lpstr>
      <vt:lpstr>Output 3 — Weaknesses</vt:lpstr>
      <vt:lpstr>Output 4 — Follow-up Experiment Ideas</vt:lpstr>
      <vt:lpstr>PowerPoint Presentation</vt:lpstr>
      <vt:lpstr>Compare AGENTIF vs FieldWorkArena</vt:lpstr>
      <vt:lpstr>Realism Comparison — AGENTIF vs FieldWorkArena</vt:lpstr>
      <vt:lpstr>Realism Conclusion</vt:lpstr>
      <vt:lpstr>Generalisation Comparison — AGENTIF vs FieldWorkArena</vt:lpstr>
      <vt:lpstr>Generalisation Conclusion</vt:lpstr>
      <vt:lpstr>Evaluation Reliability — AGENTIF vs FieldWorkArena</vt:lpstr>
      <vt:lpstr>Evaluation Conclusion</vt:lpstr>
      <vt:lpstr>AGENTIF vs FieldWorkArena — Final Comparison</vt:lpstr>
      <vt:lpstr>Final Verdict</vt:lpstr>
      <vt:lpstr>Final One-Line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Jyoti Dabass</cp:lastModifiedBy>
  <cp:revision>27</cp:revision>
  <dcterms:modified xsi:type="dcterms:W3CDTF">2026-08-12T10:18:28Z</dcterms:modified>
</cp:coreProperties>
</file>